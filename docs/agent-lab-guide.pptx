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" id="{99a194ed-49d1-5798-b742-1b54875ef0cc}">
          <p14:sldIdLst>
            <p14:sldId id="256"/>
            <p14:sldId id="257"/>
            <p14:sldId id="258"/>
            <p14:sldId id="259"/>
          </p14:sldIdLst>
        </p14:section>
        <p14:section name="Stages" id="{fdff43a9-cafe-21fc-d9f6-6e4b62b4dc57}">
          <p14:sldIdLst>
            <p14:sldId id="260"/>
            <p14:sldId id="261"/>
            <p14:sldId id="262"/>
            <p14:sldId id="263"/>
            <p14:sldId id="264"/>
            <p14:sldId id="265"/>
            <p14:sldId id="266"/>
          </p14:sldIdLst>
        </p14:section>
        <p14:section name="Next and beyond" id="{f8cb0247-28f1-1c01-8e6e-e3773ffa7158}">
          <p14:sldIdLst>
            <p14:sldId id="267"/>
            <p14:sldId id="268"/>
            <p14:sldId id="269"/>
            <p14:sldId id="27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agent-lab is a learning project. Each stage teaches one LLM or agent concept in a tiny domain.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Solid stages are built. Dashed ones are on the roadmap.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LLM. strings.Contains for categories, type, and no-flag patterns.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LLM call constrained by a JSON schema. Ollama turns the schema into a grammar.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Frameworks are conveniences over this loop.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Cubs, then Chicago, then no filter. The racist blacklist is never loosened.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model has no memory. Memory is re-sending the transcript.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Run with -ctx 2048 to force trimming and watch a restriction vanish.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Same loop as stage 2, plus where history lives and the trim step in front.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Planned. The mapping is what to look for when comparing, not existing code.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Both are planned.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Example domain is a support-ticket bot.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0B3B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CC9C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rgbClr val="0B3B3C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8A9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CC9C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118872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Build an agent from scratch</a:t>
            </a:r>
            <a:endParaRPr lang="en-US" sz="4400" dirty="0"/>
          </a:p>
        </p:txBody>
      </p:sp>
      <p:sp>
        <p:nvSpPr>
          <p:cNvPr id="3" name="subtitle"/>
          <p:cNvSpPr txBox="1"/>
          <p:nvPr/>
        </p:nvSpPr>
        <p:spPr>
          <a:xfrm>
            <a:off x="548640" y="2240280"/>
            <a:ext cx="7132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ADCFC"/>
                </a:solidFill>
              </a:rPr>
              <a:t>One idea at a time, from keyword matching to tool-calling agents, in a project that fetches jokes.</a:t>
            </a:r>
            <a:endParaRPr lang="en-US" sz="2000" dirty="0"/>
          </a:p>
        </p:txBody>
      </p:sp>
      <p:sp>
        <p:nvSpPr>
          <p:cNvPr id="4" name="footer-line"/>
          <p:cNvSpPr txBox="1"/>
          <p:nvPr/>
        </p:nvSpPr>
        <p:spPr>
          <a:xfrm>
            <a:off x="548640" y="411480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CC9C0"/>
                </a:solidFill>
              </a:rPr>
              <a:t>agent-lab  ·  Go  ·  Ollama  ·  stages 0 to 3 built, 3b to 5 planned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CC9C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B3B3C"/>
                </a:solidFill>
              </a:rPr>
              <a:t>Six steps, one dial: who is in charge?</a:t>
            </a:r>
            <a:endParaRPr lang="en-US" sz="3000" dirty="0"/>
          </a:p>
        </p:txBody>
      </p:sp>
      <p:sp>
        <p:nvSpPr>
          <p:cNvPr id="4" name="stage-0"/>
          <p:cNvSpPr/>
          <p:nvPr/>
        </p:nvSpPr>
        <p:spPr>
          <a:xfrm>
            <a:off x="457200" y="1280160"/>
            <a:ext cx="1097280" cy="1371600"/>
          </a:xfrm>
          <a:prstGeom prst="roundRect">
            <a:avLst>
              <a:gd name="adj" fmla="val 6667"/>
            </a:avLst>
          </a:prstGeom>
          <a:solidFill>
            <a:srgbClr val="7A8A96"/>
          </a:solidFill>
          <a:ln w="19050">
            <a:solidFill>
              <a:srgbClr val="7A8A96"/>
            </a:solidFill>
            <a:prstDash val="solid"/>
          </a:ln>
        </p:spPr>
      </p:sp>
      <p:sp>
        <p:nvSpPr>
          <p:cNvPr id="5" name="stage-text-0"/>
          <p:cNvSpPr txBox="1"/>
          <p:nvPr/>
        </p:nvSpPr>
        <p:spPr>
          <a:xfrm>
            <a:off x="457200" y="1280160"/>
            <a:ext cx="1097280" cy="137160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24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Keywords</a:t>
            </a:r>
            <a:endParaRPr lang="en-US" sz="24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no LLM</a:t>
            </a:r>
            <a:endParaRPr lang="en-US" sz="2400" dirty="0"/>
          </a:p>
        </p:txBody>
      </p:sp>
      <p:sp>
        <p:nvSpPr>
          <p:cNvPr id="6" name="stage-1"/>
          <p:cNvSpPr/>
          <p:nvPr/>
        </p:nvSpPr>
        <p:spPr>
          <a:xfrm>
            <a:off x="1645920" y="1280160"/>
            <a:ext cx="1097280" cy="1371600"/>
          </a:xfrm>
          <a:prstGeom prst="roundRect">
            <a:avLst>
              <a:gd name="adj" fmla="val 6667"/>
            </a:avLst>
          </a:prstGeom>
          <a:solidFill>
            <a:srgbClr val="2F6FB5"/>
          </a:solidFill>
          <a:ln w="19050">
            <a:solidFill>
              <a:srgbClr val="2F6FB5"/>
            </a:solidFill>
            <a:prstDash val="solid"/>
          </a:ln>
        </p:spPr>
      </p:sp>
      <p:sp>
        <p:nvSpPr>
          <p:cNvPr id="7" name="stage-text-1"/>
          <p:cNvSpPr txBox="1"/>
          <p:nvPr/>
        </p:nvSpPr>
        <p:spPr>
          <a:xfrm>
            <a:off x="1645920" y="1280160"/>
            <a:ext cx="1097280" cy="137160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4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Structured output</a:t>
            </a:r>
            <a:endParaRPr lang="en-US" sz="24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LLM parses</a:t>
            </a:r>
            <a:endParaRPr lang="en-US" sz="2400" dirty="0"/>
          </a:p>
        </p:txBody>
      </p:sp>
      <p:sp>
        <p:nvSpPr>
          <p:cNvPr id="8" name="stage-2"/>
          <p:cNvSpPr/>
          <p:nvPr/>
        </p:nvSpPr>
        <p:spPr>
          <a:xfrm>
            <a:off x="2834640" y="1280160"/>
            <a:ext cx="1097280" cy="1371600"/>
          </a:xfrm>
          <a:prstGeom prst="roundRect">
            <a:avLst>
              <a:gd name="adj" fmla="val 6667"/>
            </a:avLst>
          </a:prstGeom>
          <a:solidFill>
            <a:srgbClr val="0B7A75"/>
          </a:solidFill>
          <a:ln w="19050">
            <a:solidFill>
              <a:srgbClr val="0B7A75"/>
            </a:solidFill>
            <a:prstDash val="solid"/>
          </a:ln>
        </p:spPr>
      </p:sp>
      <p:sp>
        <p:nvSpPr>
          <p:cNvPr id="9" name="stage-text-2"/>
          <p:cNvSpPr txBox="1"/>
          <p:nvPr/>
        </p:nvSpPr>
        <p:spPr>
          <a:xfrm>
            <a:off x="2834640" y="1280160"/>
            <a:ext cx="1097280" cy="137160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4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Tool loop</a:t>
            </a:r>
            <a:endParaRPr lang="en-US" sz="24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LLM decides</a:t>
            </a:r>
            <a:endParaRPr lang="en-US" sz="2400" dirty="0"/>
          </a:p>
        </p:txBody>
      </p:sp>
      <p:sp>
        <p:nvSpPr>
          <p:cNvPr id="10" name="stage-3"/>
          <p:cNvSpPr/>
          <p:nvPr/>
        </p:nvSpPr>
        <p:spPr>
          <a:xfrm>
            <a:off x="4023360" y="1280160"/>
            <a:ext cx="1097280" cy="1371600"/>
          </a:xfrm>
          <a:prstGeom prst="roundRect">
            <a:avLst>
              <a:gd name="adj" fmla="val 6667"/>
            </a:avLst>
          </a:prstGeom>
          <a:solidFill>
            <a:srgbClr val="8A4FB0"/>
          </a:solidFill>
          <a:ln w="19050">
            <a:solidFill>
              <a:srgbClr val="8A4FB0"/>
            </a:solidFill>
            <a:prstDash val="solid"/>
          </a:ln>
        </p:spPr>
      </p:sp>
      <p:sp>
        <p:nvSpPr>
          <p:cNvPr id="11" name="stage-text-3"/>
          <p:cNvSpPr txBox="1"/>
          <p:nvPr/>
        </p:nvSpPr>
        <p:spPr>
          <a:xfrm>
            <a:off x="4023360" y="1280160"/>
            <a:ext cx="1097280" cy="137160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4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Tools + memory</a:t>
            </a:r>
            <a:endParaRPr lang="en-US" sz="24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LLM remembers</a:t>
            </a:r>
            <a:endParaRPr lang="en-US" sz="2400" dirty="0"/>
          </a:p>
        </p:txBody>
      </p:sp>
      <p:sp>
        <p:nvSpPr>
          <p:cNvPr id="12" name="stage-3b"/>
          <p:cNvSpPr/>
          <p:nvPr/>
        </p:nvSpPr>
        <p:spPr>
          <a:xfrm>
            <a:off x="5212080" y="1280160"/>
            <a:ext cx="109728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9050">
            <a:solidFill>
              <a:srgbClr val="B4561A"/>
            </a:solidFill>
            <a:prstDash val="dash"/>
          </a:ln>
        </p:spPr>
      </p:sp>
      <p:sp>
        <p:nvSpPr>
          <p:cNvPr id="13" name="stage-text-3b"/>
          <p:cNvSpPr txBox="1"/>
          <p:nvPr/>
        </p:nvSpPr>
        <p:spPr>
          <a:xfrm>
            <a:off x="5212080" y="1280160"/>
            <a:ext cx="1097280" cy="137160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B456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3b</a:t>
            </a:r>
            <a:endParaRPr lang="en-US" sz="24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B4561A"/>
                </a:solidFill>
              </a:rPr>
              <a:t>langchaingo</a:t>
            </a:r>
            <a:endParaRPr lang="en-US" sz="24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B4561A"/>
                </a:solidFill>
              </a:rPr>
              <a:t>same, framework</a:t>
            </a:r>
            <a:endParaRPr lang="en-US" sz="2400" dirty="0"/>
          </a:p>
        </p:txBody>
      </p:sp>
      <p:sp>
        <p:nvSpPr>
          <p:cNvPr id="14" name="stage-4"/>
          <p:cNvSpPr/>
          <p:nvPr/>
        </p:nvSpPr>
        <p:spPr>
          <a:xfrm>
            <a:off x="6400800" y="1280160"/>
            <a:ext cx="109728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9050">
            <a:solidFill>
              <a:srgbClr val="B4561A"/>
            </a:solidFill>
            <a:prstDash val="dash"/>
          </a:ln>
        </p:spPr>
      </p:sp>
      <p:sp>
        <p:nvSpPr>
          <p:cNvPr id="15" name="stage-text-4"/>
          <p:cNvSpPr txBox="1"/>
          <p:nvPr/>
        </p:nvSpPr>
        <p:spPr>
          <a:xfrm>
            <a:off x="6400800" y="1280160"/>
            <a:ext cx="1097280" cy="137160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B456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4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B4561A"/>
                </a:solidFill>
              </a:rPr>
              <a:t>MCP server</a:t>
            </a:r>
            <a:endParaRPr lang="en-US" sz="24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B4561A"/>
                </a:solidFill>
              </a:rPr>
              <a:t>shared tools</a:t>
            </a:r>
            <a:endParaRPr lang="en-US" sz="2400" dirty="0"/>
          </a:p>
        </p:txBody>
      </p:sp>
      <p:sp>
        <p:nvSpPr>
          <p:cNvPr id="16" name="stage-5"/>
          <p:cNvSpPr/>
          <p:nvPr/>
        </p:nvSpPr>
        <p:spPr>
          <a:xfrm>
            <a:off x="7589520" y="1280160"/>
            <a:ext cx="109728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9050">
            <a:solidFill>
              <a:srgbClr val="B4561A"/>
            </a:solidFill>
            <a:prstDash val="dash"/>
          </a:ln>
        </p:spPr>
      </p:sp>
      <p:sp>
        <p:nvSpPr>
          <p:cNvPr id="17" name="stage-text-5"/>
          <p:cNvSpPr txBox="1"/>
          <p:nvPr/>
        </p:nvSpPr>
        <p:spPr>
          <a:xfrm>
            <a:off x="7589520" y="1280160"/>
            <a:ext cx="1097280" cy="137160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B456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24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B4561A"/>
                </a:solidFill>
              </a:rPr>
              <a:t>Evals</a:t>
            </a:r>
            <a:endParaRPr lang="en-US" sz="24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B4561A"/>
                </a:solidFill>
              </a:rPr>
              <a:t>measure it</a:t>
            </a:r>
            <a:endParaRPr lang="en-US" sz="2400" dirty="0"/>
          </a:p>
        </p:txBody>
      </p:sp>
      <p:sp>
        <p:nvSpPr>
          <p:cNvPr id="18" name="lede"/>
          <p:cNvSpPr txBox="1"/>
          <p:nvPr/>
        </p:nvSpPr>
        <p:spPr>
          <a:xfrm>
            <a:off x="457200" y="30175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Each stage hands a little more control from your code to the model.</a:t>
            </a:r>
            <a:endParaRPr lang="en-US" sz="1800" dirty="0"/>
          </a:p>
        </p:txBody>
      </p:sp>
      <p:sp>
        <p:nvSpPr>
          <p:cNvPr id="19" name="bullets"/>
          <p:cNvSpPr txBox="1"/>
          <p:nvPr/>
        </p:nvSpPr>
        <p:spPr>
          <a:xfrm>
            <a:off x="457200" y="356616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Tiny domain on purpose: ask for a joke, get one from a real API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Plain HTTP and Go structs, no SDK, so the wire format is visible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Every API and model is faked in tests; nothing needs the network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8A9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B3B3C"/>
                </a:solidFill>
              </a:rPr>
              <a:t>Who decides at each stage</a:t>
            </a:r>
            <a:endParaRPr lang="en-US" sz="3000" dirty="0"/>
          </a:p>
        </p:txBody>
      </p:sp>
      <p:graphicFrame>
        <p:nvGraphicFramePr>
          <p:cNvPr id="4" name="control-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822960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1554480"/>
                <a:gridCol w="1554480"/>
                <a:gridCol w="1188720"/>
                <a:gridCol w="1188720"/>
                <a:gridCol w="118872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Stage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B3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Interprets request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B3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Chooses next action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B3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Retries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B3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Remembers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B3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Picks tools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B3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4212B"/>
                          </a:solidFill>
                        </a:rPr>
                        <a:t>0 Keywords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4212B"/>
                          </a:solidFill>
                        </a:rPr>
                        <a:t>your code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4212B"/>
                          </a:solidFill>
                        </a:rPr>
                        <a:t>your code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7A8A96"/>
                          </a:solidFill>
                        </a:rPr>
                        <a:t>–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7A8A96"/>
                          </a:solidFill>
                        </a:rPr>
                        <a:t>–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7A8A96"/>
                          </a:solidFill>
                        </a:rPr>
                        <a:t>–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4212B"/>
                          </a:solidFill>
                        </a:rPr>
                        <a:t>1 Structured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4212B"/>
                          </a:solidFill>
                        </a:rPr>
                        <a:t>the model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4212B"/>
                          </a:solidFill>
                        </a:rPr>
                        <a:t>your code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7A8A96"/>
                          </a:solidFill>
                        </a:rPr>
                        <a:t>–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7A8A96"/>
                          </a:solidFill>
                        </a:rPr>
                        <a:t>–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7A8A96"/>
                          </a:solidFill>
                        </a:rPr>
                        <a:t>–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4212B"/>
                          </a:solidFill>
                        </a:rPr>
                        <a:t>2 Tool loop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4212B"/>
                          </a:solidFill>
                        </a:rPr>
                        <a:t>the model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4212B"/>
                          </a:solidFill>
                        </a:rPr>
                        <a:t>the model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B7A75"/>
                          </a:solidFill>
                        </a:rPr>
                        <a:t>yes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7A8A96"/>
                          </a:solidFill>
                        </a:rPr>
                        <a:t>–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7A8A96"/>
                          </a:solidFill>
                        </a:rPr>
                        <a:t>–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4212B"/>
                          </a:solidFill>
                        </a:rPr>
                        <a:t>3 Multi-tool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4212B"/>
                          </a:solidFill>
                        </a:rPr>
                        <a:t>the model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4212B"/>
                          </a:solidFill>
                        </a:rPr>
                        <a:t>the model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B7A75"/>
                          </a:solidFill>
                        </a:rPr>
                        <a:t>yes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B7A75"/>
                          </a:solidFill>
                        </a:rPr>
                        <a:t>yes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B7A75"/>
                          </a:solidFill>
                        </a:rPr>
                        <a:t>yes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callout-bg"/>
          <p:cNvSpPr/>
          <p:nvPr/>
        </p:nvSpPr>
        <p:spPr>
          <a:xfrm>
            <a:off x="457200" y="3840480"/>
            <a:ext cx="8229600" cy="914400"/>
          </a:xfrm>
          <a:prstGeom prst="roundRect">
            <a:avLst>
              <a:gd name="adj" fmla="val 8000"/>
            </a:avLst>
          </a:prstGeom>
          <a:solidFill>
            <a:srgbClr val="EEF3F4"/>
          </a:solidFill>
          <a:ln w="12700">
            <a:solidFill>
              <a:srgbClr val="EEF3F4"/>
            </a:solidFill>
            <a:prstDash val="solid"/>
          </a:ln>
        </p:spPr>
      </p:sp>
      <p:sp>
        <p:nvSpPr>
          <p:cNvPr id="5" name="callout"/>
          <p:cNvSpPr txBox="1"/>
          <p:nvPr/>
        </p:nvSpPr>
        <p:spPr>
          <a:xfrm>
            <a:off x="594360" y="3913632"/>
            <a:ext cx="795528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B7A75"/>
                </a:solidFill>
              </a:rPr>
              <a:t>DESIGN RULE</a:t>
            </a:r>
            <a:endParaRPr lang="en-US" sz="1200" dirty="0"/>
          </a:p>
          <a:p>
            <a:pPr indent="0" marL="0">
              <a:buNone/>
            </a:pPr>
            <a:r>
              <a:rPr lang="en-US" sz="1400" dirty="0">
                <a:solidFill>
                  <a:srgbClr val="14212B"/>
                </a:solidFill>
              </a:rPr>
              <a:t>The joke client takes a typed Request, never free text. The model fills a form, your code normalizes it, and only then does anything touch the network.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8A9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B3B3C"/>
                </a:solidFill>
              </a:rPr>
              <a:t>The shared plumbing</a:t>
            </a:r>
            <a:endParaRPr lang="en-US" sz="3000" dirty="0"/>
          </a:p>
        </p:txBody>
      </p:sp>
      <p:pic>
        <p:nvPicPr>
          <p:cNvPr id="3" name="Plumbing diagram" descr="Plumbing diagram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76227"/>
            <a:ext cx="5120640" cy="2808267"/>
          </a:xfrm>
          <a:prstGeom prst="rect">
            <a:avLst/>
          </a:prstGeom>
        </p:spPr>
      </p:pic>
      <p:sp>
        <p:nvSpPr>
          <p:cNvPr id="4" name="bullets"/>
          <p:cNvSpPr txBox="1"/>
          <p:nvPr/>
        </p:nvSpPr>
        <p:spPr>
          <a:xfrm>
            <a:off x="5760720" y="1280160"/>
            <a:ext cx="301752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One REPL builds one stage with -stage N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Every stage reuses the Ollama, JokeAPI and trace packages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-trace prints every prompt, tool call, result and token count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Memory limits: ctx 8192, output 2048, keep-alive 2m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8A9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B3B3C"/>
                </a:solidFill>
              </a:rPr>
              <a:t>Stage 0: keywords, the baseline to beat</a:t>
            </a:r>
            <a:endParaRPr lang="en-US" sz="3000" dirty="0"/>
          </a:p>
        </p:txBody>
      </p:sp>
      <p:sp>
        <p:nvSpPr>
          <p:cNvPr id="4" name="bullets"/>
          <p:cNvSpPr txBox="1"/>
          <p:nvPr/>
        </p:nvSpPr>
        <p:spPr>
          <a:xfrm>
            <a:off x="457200" y="1280160"/>
            <a:ext cx="3840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Lowercase the text and look for known words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Category names, "one-liner", "no politics"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Fast, free and predictable</a:t>
            </a:r>
            <a:endParaRPr lang="en-US" sz="1600" dirty="0"/>
          </a:p>
        </p:txBody>
      </p:sp>
      <p:sp>
        <p:nvSpPr>
          <p:cNvPr id="5" name="callout-bg"/>
          <p:cNvSpPr/>
          <p:nvPr/>
        </p:nvSpPr>
        <p:spPr>
          <a:xfrm>
            <a:off x="457200" y="3200400"/>
            <a:ext cx="3840480" cy="1371600"/>
          </a:xfrm>
          <a:prstGeom prst="roundRect">
            <a:avLst>
              <a:gd name="adj" fmla="val 5333"/>
            </a:avLst>
          </a:prstGeom>
          <a:solidFill>
            <a:srgbClr val="EEF3F4"/>
          </a:solidFill>
          <a:ln w="12700">
            <a:solidFill>
              <a:srgbClr val="EEF3F4"/>
            </a:solidFill>
            <a:prstDash val="solid"/>
          </a:ln>
        </p:spPr>
      </p:sp>
      <p:sp>
        <p:nvSpPr>
          <p:cNvPr id="6" name="callout"/>
          <p:cNvSpPr txBox="1"/>
          <p:nvPr/>
        </p:nvSpPr>
        <p:spPr>
          <a:xfrm>
            <a:off x="594360" y="3273552"/>
            <a:ext cx="356616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B4561A"/>
                </a:solidFill>
              </a:rPr>
              <a:t>WHERE IT BREAKS</a:t>
            </a:r>
            <a:endParaRPr lang="en-US" sz="1200" dirty="0"/>
          </a:p>
          <a:p>
            <a:pPr indent="0" marL="0">
              <a:buNone/>
            </a:pPr>
            <a:r>
              <a:rPr lang="en-US" sz="1400" dirty="0">
                <a:solidFill>
                  <a:srgbClr val="14212B"/>
                </a:solidFill>
              </a:rPr>
              <a:t>"keep it family friendly" matches nothing. "clean" blacklists only nsfw.</a:t>
            </a:r>
            <a:endParaRPr lang="en-US" sz="1200" dirty="0"/>
          </a:p>
        </p:txBody>
      </p:sp>
      <p:pic>
        <p:nvPicPr>
          <p:cNvPr id="7" name="Stage 0 flow" descr="Stage 0 flow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480560" y="2220356"/>
            <a:ext cx="4297680" cy="1411449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8A9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B3B3C"/>
                </a:solidFill>
              </a:rPr>
              <a:t>Stage 1: structured output, the model as parser</a:t>
            </a:r>
            <a:endParaRPr lang="en-US" sz="3000" dirty="0"/>
          </a:p>
        </p:txBody>
      </p:sp>
      <p:pic>
        <p:nvPicPr>
          <p:cNvPr id="4" name="Stage 1 sequence" descr="Stage 1 sequenc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1858927"/>
            <a:ext cx="5120640" cy="2042866"/>
          </a:xfrm>
          <a:prstGeom prst="rect">
            <a:avLst/>
          </a:prstGeom>
        </p:spPr>
      </p:pic>
      <p:sp>
        <p:nvSpPr>
          <p:cNvPr id="5" name="bullets"/>
          <p:cNvSpPr txBox="1"/>
          <p:nvPr/>
        </p:nvSpPr>
        <p:spPr>
          <a:xfrm>
            <a:off x="5669280" y="1280160"/>
            <a:ext cx="31089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One call, with the JSON schema in the format field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The model can only emit valid JSON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Decode, then Normalize(): trust nothing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Ollama or Claude API behind one prompt</a:t>
            </a:r>
            <a:endParaRPr lang="en-US" sz="1500" dirty="0"/>
          </a:p>
        </p:txBody>
      </p:sp>
      <p:sp>
        <p:nvSpPr>
          <p:cNvPr id="6" name="callout-bg"/>
          <p:cNvSpPr/>
          <p:nvPr/>
        </p:nvSpPr>
        <p:spPr>
          <a:xfrm>
            <a:off x="5669280" y="3566160"/>
            <a:ext cx="3108960" cy="1005840"/>
          </a:xfrm>
          <a:prstGeom prst="roundRect">
            <a:avLst>
              <a:gd name="adj" fmla="val 7273"/>
            </a:avLst>
          </a:prstGeom>
          <a:solidFill>
            <a:srgbClr val="EEF3F4"/>
          </a:solidFill>
          <a:ln w="12700">
            <a:solidFill>
              <a:srgbClr val="EEF3F4"/>
            </a:solidFill>
            <a:prstDash val="solid"/>
          </a:ln>
        </p:spPr>
      </p:sp>
      <p:sp>
        <p:nvSpPr>
          <p:cNvPr id="7" name="callout"/>
          <p:cNvSpPr txBox="1"/>
          <p:nvPr/>
        </p:nvSpPr>
        <p:spPr>
          <a:xfrm>
            <a:off x="5806440" y="3639312"/>
            <a:ext cx="283464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B7A75"/>
                </a:solidFill>
              </a:rPr>
              <a:t>LESSON</a:t>
            </a:r>
            <a:endParaRPr lang="en-US" sz="1200" dirty="0"/>
          </a:p>
          <a:p>
            <a:pPr indent="0" marL="0">
              <a:buNone/>
            </a:pPr>
            <a:r>
              <a:rPr lang="en-US" sz="1400" dirty="0">
                <a:solidFill>
                  <a:srgbClr val="14212B"/>
                </a:solidFill>
              </a:rPr>
              <a:t>The LLM becomes a typed function: text in, struct out.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8A9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B3B3C"/>
                </a:solidFill>
              </a:rPr>
              <a:t>Stage 2: the agent is a loop</a:t>
            </a:r>
            <a:endParaRPr lang="en-US" sz="3000" dirty="0"/>
          </a:p>
        </p:txBody>
      </p:sp>
      <p:sp>
        <p:nvSpPr>
          <p:cNvPr id="4" name="bullets"/>
          <p:cNvSpPr txBox="1"/>
          <p:nvPr/>
        </p:nvSpPr>
        <p:spPr>
          <a:xfrm>
            <a:off x="457200" y="1280160"/>
            <a:ext cx="45720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Describe a get_joke tool; the model decides when and how to call it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Assistant message with tool calls goes back into history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Tool errors return as results, so the model can retry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MaxSteps = 6 stops runaway loops</a:t>
            </a:r>
            <a:endParaRPr lang="en-US" sz="1600" dirty="0"/>
          </a:p>
        </p:txBody>
      </p:sp>
      <p:sp>
        <p:nvSpPr>
          <p:cNvPr id="5" name="callout-bg"/>
          <p:cNvSpPr/>
          <p:nvPr/>
        </p:nvSpPr>
        <p:spPr>
          <a:xfrm>
            <a:off x="457200" y="3749040"/>
            <a:ext cx="4572000" cy="914400"/>
          </a:xfrm>
          <a:prstGeom prst="roundRect">
            <a:avLst>
              <a:gd name="adj" fmla="val 8000"/>
            </a:avLst>
          </a:prstGeom>
          <a:solidFill>
            <a:srgbClr val="EEF3F4"/>
          </a:solidFill>
          <a:ln w="12700">
            <a:solidFill>
              <a:srgbClr val="EEF3F4"/>
            </a:solidFill>
            <a:prstDash val="solid"/>
          </a:ln>
        </p:spPr>
      </p:sp>
      <p:sp>
        <p:nvSpPr>
          <p:cNvPr id="6" name="callout"/>
          <p:cNvSpPr txBox="1"/>
          <p:nvPr/>
        </p:nvSpPr>
        <p:spPr>
          <a:xfrm>
            <a:off x="594360" y="3822192"/>
            <a:ext cx="429768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B7A75"/>
                </a:solidFill>
              </a:rPr>
              <a:t>LESSON</a:t>
            </a:r>
            <a:endParaRPr lang="en-US" sz="1200" dirty="0"/>
          </a:p>
          <a:p>
            <a:pPr indent="0" marL="0">
              <a:buNone/>
            </a:pPr>
            <a:r>
              <a:rPr lang="en-US" sz="1400" dirty="0">
                <a:solidFill>
                  <a:srgbClr val="14212B"/>
                </a:solidFill>
              </a:rPr>
              <a:t>An agent is a loop where the model's output can be an action.</a:t>
            </a:r>
            <a:endParaRPr lang="en-US" sz="1200" dirty="0"/>
          </a:p>
        </p:txBody>
      </p:sp>
      <p:pic>
        <p:nvPicPr>
          <p:cNvPr id="7" name="Agent loop flowchart" descr="Agent loop flowchar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52924" y="1005840"/>
            <a:ext cx="3375913" cy="374904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8A9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B3B3C"/>
                </a:solidFill>
              </a:rPr>
              <a:t>Retry without writing a retry loop</a:t>
            </a:r>
            <a:endParaRPr lang="en-US" sz="3000" dirty="0"/>
          </a:p>
        </p:txBody>
      </p:sp>
      <p:pic>
        <p:nvPicPr>
          <p:cNvPr id="4" name="Retry sequence" descr="Retry sequenc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97473"/>
            <a:ext cx="5394960" cy="3657215"/>
          </a:xfrm>
          <a:prstGeom prst="rect">
            <a:avLst/>
          </a:prstGeom>
        </p:spPr>
      </p:pic>
      <p:sp>
        <p:nvSpPr>
          <p:cNvPr id="5" name="bullets"/>
          <p:cNvSpPr txBox="1"/>
          <p:nvPr/>
        </p:nvSpPr>
        <p:spPr>
          <a:xfrm>
            <a:off x="6035040" y="1280160"/>
            <a:ext cx="274320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"No matching joke" goes back as a tool result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The model shortens the filter and calls again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The blacklist stays on through every attempt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It tells the user what it relaxed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8A9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B3B3C"/>
                </a:solidFill>
              </a:rPr>
              <a:t>Stage 3: many tools and memory</a:t>
            </a:r>
            <a:endParaRPr lang="en-US" sz="3000" dirty="0"/>
          </a:p>
        </p:txBody>
      </p:sp>
      <p:pic>
        <p:nvPicPr>
          <p:cNvPr id="4" name="Tool registry" descr="Tool registr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71600" y="1051560"/>
            <a:ext cx="6400800" cy="1920240"/>
          </a:xfrm>
          <a:prstGeom prst="rect">
            <a:avLst/>
          </a:prstGeom>
        </p:spPr>
      </p:pic>
      <p:sp>
        <p:nvSpPr>
          <p:cNvPr id="5" name="callout-bg"/>
          <p:cNvSpPr/>
          <p:nvPr/>
        </p:nvSpPr>
        <p:spPr>
          <a:xfrm>
            <a:off x="457200" y="3154680"/>
            <a:ext cx="2651760" cy="1463040"/>
          </a:xfrm>
          <a:prstGeom prst="roundRect">
            <a:avLst>
              <a:gd name="adj" fmla="val 5000"/>
            </a:avLst>
          </a:prstGeom>
          <a:solidFill>
            <a:srgbClr val="EEF3F4"/>
          </a:solidFill>
          <a:ln w="12700">
            <a:solidFill>
              <a:srgbClr val="EEF3F4"/>
            </a:solidFill>
            <a:prstDash val="solid"/>
          </a:ln>
        </p:spPr>
      </p:sp>
      <p:sp>
        <p:nvSpPr>
          <p:cNvPr id="6" name="callout"/>
          <p:cNvSpPr txBox="1"/>
          <p:nvPr/>
        </p:nvSpPr>
        <p:spPr>
          <a:xfrm>
            <a:off x="594360" y="3227832"/>
            <a:ext cx="2377440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8A4FB0"/>
                </a:solidFill>
              </a:rPr>
              <a:t>TOOLS</a:t>
            </a:r>
            <a:endParaRPr lang="en-US" sz="1200" dirty="0"/>
          </a:p>
          <a:p>
            <a:pPr indent="0" marL="0">
              <a:buNone/>
            </a:pPr>
            <a:r>
              <a:rPr lang="en-US" sz="1400" dirty="0">
                <a:solidFill>
                  <a:srgbClr val="14212B"/>
                </a:solidFill>
              </a:rPr>
              <a:t>get_joke (JokeAPI) and search_dad_jokes. Descriptions are part of the prompt.</a:t>
            </a:r>
            <a:endParaRPr lang="en-US" sz="1200" dirty="0"/>
          </a:p>
        </p:txBody>
      </p:sp>
      <p:sp>
        <p:nvSpPr>
          <p:cNvPr id="7" name="callout-bg"/>
          <p:cNvSpPr/>
          <p:nvPr/>
        </p:nvSpPr>
        <p:spPr>
          <a:xfrm>
            <a:off x="3246120" y="3154680"/>
            <a:ext cx="2651760" cy="1463040"/>
          </a:xfrm>
          <a:prstGeom prst="roundRect">
            <a:avLst>
              <a:gd name="adj" fmla="val 5000"/>
            </a:avLst>
          </a:prstGeom>
          <a:solidFill>
            <a:srgbClr val="EEF3F4"/>
          </a:solidFill>
          <a:ln w="12700">
            <a:solidFill>
              <a:srgbClr val="EEF3F4"/>
            </a:solidFill>
            <a:prstDash val="solid"/>
          </a:ln>
        </p:spPr>
      </p:sp>
      <p:sp>
        <p:nvSpPr>
          <p:cNvPr id="8" name="callout"/>
          <p:cNvSpPr txBox="1"/>
          <p:nvPr/>
        </p:nvSpPr>
        <p:spPr>
          <a:xfrm>
            <a:off x="3383280" y="3227832"/>
            <a:ext cx="2377440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8A4FB0"/>
                </a:solidFill>
              </a:rPr>
              <a:t>MEMORY IN THE MODEL</a:t>
            </a:r>
            <a:endParaRPr lang="en-US" sz="1200" dirty="0"/>
          </a:p>
          <a:p>
            <a:pPr indent="0" marL="0">
              <a:buNone/>
            </a:pPr>
            <a:r>
              <a:rPr lang="en-US" sz="1400" dirty="0">
                <a:solidFill>
                  <a:srgbClr val="14212B"/>
                </a:solidFill>
              </a:rPr>
              <a:t>The transcript is re-sent each call. Flexible, fuzzy, first to be trimmed.</a:t>
            </a:r>
            <a:endParaRPr lang="en-US" sz="1200" dirty="0"/>
          </a:p>
        </p:txBody>
      </p:sp>
      <p:sp>
        <p:nvSpPr>
          <p:cNvPr id="9" name="callout-bg"/>
          <p:cNvSpPr/>
          <p:nvPr/>
        </p:nvSpPr>
        <p:spPr>
          <a:xfrm>
            <a:off x="6035040" y="3154680"/>
            <a:ext cx="2651760" cy="1463040"/>
          </a:xfrm>
          <a:prstGeom prst="roundRect">
            <a:avLst>
              <a:gd name="adj" fmla="val 5000"/>
            </a:avLst>
          </a:prstGeom>
          <a:solidFill>
            <a:srgbClr val="EEF3F4"/>
          </a:solidFill>
          <a:ln w="12700">
            <a:solidFill>
              <a:srgbClr val="EEF3F4"/>
            </a:solidFill>
            <a:prstDash val="solid"/>
          </a:ln>
        </p:spPr>
      </p:sp>
      <p:sp>
        <p:nvSpPr>
          <p:cNvPr id="10" name="callout"/>
          <p:cNvSpPr txBox="1"/>
          <p:nvPr/>
        </p:nvSpPr>
        <p:spPr>
          <a:xfrm>
            <a:off x="6172200" y="3227832"/>
            <a:ext cx="2377440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8A4FB0"/>
                </a:solidFill>
              </a:rPr>
              <a:t>MEMORY IN CODE</a:t>
            </a:r>
            <a:endParaRPr lang="en-US" sz="1200" dirty="0"/>
          </a:p>
          <a:p>
            <a:pPr indent="0" marL="0">
              <a:buNone/>
            </a:pPr>
            <a:r>
              <a:rPr lang="en-US" sz="1400" dirty="0">
                <a:solidFill>
                  <a:srgbClr val="14212B"/>
                </a:solidFill>
              </a:rPr>
              <a:t>seenJokes tracks told jokes exactly and survives trimming.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8A9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B3B3C"/>
                </a:solidFill>
              </a:rPr>
              <a:t>Trimming can erase a restriction</a:t>
            </a:r>
            <a:endParaRPr lang="en-US" sz="3000" dirty="0"/>
          </a:p>
        </p:txBody>
      </p:sp>
      <p:sp>
        <p:nvSpPr>
          <p:cNvPr id="4" name="bar-label"/>
          <p:cNvSpPr txBox="1"/>
          <p:nvPr/>
        </p:nvSpPr>
        <p:spPr>
          <a:xfrm>
            <a:off x="457200" y="1280160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Before trim</a:t>
            </a:r>
            <a:endParaRPr lang="en-US" sz="1400" dirty="0"/>
          </a:p>
        </p:txBody>
      </p:sp>
      <p:sp>
        <p:nvSpPr>
          <p:cNvPr id="5" name="cell"/>
          <p:cNvSpPr/>
          <p:nvPr/>
        </p:nvSpPr>
        <p:spPr>
          <a:xfrm>
            <a:off x="1737360" y="1280160"/>
            <a:ext cx="869873" cy="548640"/>
          </a:xfrm>
          <a:prstGeom prst="rect">
            <a:avLst/>
          </a:prstGeom>
          <a:solidFill>
            <a:srgbClr val="7A8A96"/>
          </a:solidFill>
          <a:ln w="12700">
            <a:solidFill>
              <a:srgbClr val="7A8A96"/>
            </a:solidFill>
            <a:prstDash val="solid"/>
          </a:ln>
        </p:spPr>
      </p:sp>
      <p:sp>
        <p:nvSpPr>
          <p:cNvPr id="6" name="cell-text"/>
          <p:cNvSpPr txBox="1"/>
          <p:nvPr/>
        </p:nvSpPr>
        <p:spPr>
          <a:xfrm>
            <a:off x="1737360" y="1280160"/>
            <a:ext cx="869873" cy="5486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system</a:t>
            </a:r>
            <a:endParaRPr lang="en-US" sz="1100" dirty="0"/>
          </a:p>
        </p:txBody>
      </p:sp>
      <p:sp>
        <p:nvSpPr>
          <p:cNvPr id="7" name="cell"/>
          <p:cNvSpPr/>
          <p:nvPr/>
        </p:nvSpPr>
        <p:spPr>
          <a:xfrm>
            <a:off x="2643809" y="1280160"/>
            <a:ext cx="1474172" cy="548640"/>
          </a:xfrm>
          <a:prstGeom prst="rect">
            <a:avLst/>
          </a:prstGeom>
          <a:solidFill>
            <a:srgbClr val="2F6FB5"/>
          </a:solidFill>
          <a:ln w="12700">
            <a:solidFill>
              <a:srgbClr val="2F6FB5"/>
            </a:solidFill>
            <a:prstDash val="solid"/>
          </a:ln>
        </p:spPr>
      </p:sp>
      <p:sp>
        <p:nvSpPr>
          <p:cNvPr id="8" name="cell-text"/>
          <p:cNvSpPr txBox="1"/>
          <p:nvPr/>
        </p:nvSpPr>
        <p:spPr>
          <a:xfrm>
            <a:off x="2643809" y="1280160"/>
            <a:ext cx="1474172" cy="5486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turn 1: "no racist"</a:t>
            </a:r>
            <a:endParaRPr lang="en-US" sz="1100" dirty="0"/>
          </a:p>
        </p:txBody>
      </p:sp>
      <p:sp>
        <p:nvSpPr>
          <p:cNvPr id="9" name="cell"/>
          <p:cNvSpPr/>
          <p:nvPr/>
        </p:nvSpPr>
        <p:spPr>
          <a:xfrm>
            <a:off x="4154557" y="1280160"/>
            <a:ext cx="1474172" cy="548640"/>
          </a:xfrm>
          <a:prstGeom prst="rect">
            <a:avLst/>
          </a:prstGeom>
          <a:solidFill>
            <a:srgbClr val="0B7A75"/>
          </a:solidFill>
          <a:ln w="12700">
            <a:solidFill>
              <a:srgbClr val="0B7A75"/>
            </a:solidFill>
            <a:prstDash val="solid"/>
          </a:ln>
        </p:spPr>
      </p:sp>
      <p:sp>
        <p:nvSpPr>
          <p:cNvPr id="10" name="cell-text"/>
          <p:cNvSpPr txBox="1"/>
          <p:nvPr/>
        </p:nvSpPr>
        <p:spPr>
          <a:xfrm>
            <a:off x="4154557" y="1280160"/>
            <a:ext cx="1474172" cy="5486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turn 2</a:t>
            </a:r>
            <a:endParaRPr lang="en-US" sz="1100" dirty="0"/>
          </a:p>
        </p:txBody>
      </p:sp>
      <p:sp>
        <p:nvSpPr>
          <p:cNvPr id="11" name="cell"/>
          <p:cNvSpPr/>
          <p:nvPr/>
        </p:nvSpPr>
        <p:spPr>
          <a:xfrm>
            <a:off x="5665304" y="1280160"/>
            <a:ext cx="1474172" cy="548640"/>
          </a:xfrm>
          <a:prstGeom prst="rect">
            <a:avLst/>
          </a:prstGeom>
          <a:solidFill>
            <a:srgbClr val="8A4FB0"/>
          </a:solidFill>
          <a:ln w="12700">
            <a:solidFill>
              <a:srgbClr val="8A4FB0"/>
            </a:solidFill>
            <a:prstDash val="solid"/>
          </a:ln>
        </p:spPr>
      </p:sp>
      <p:sp>
        <p:nvSpPr>
          <p:cNvPr id="12" name="cell-text"/>
          <p:cNvSpPr txBox="1"/>
          <p:nvPr/>
        </p:nvSpPr>
        <p:spPr>
          <a:xfrm>
            <a:off x="5665304" y="1280160"/>
            <a:ext cx="1474172" cy="5486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turn 3</a:t>
            </a:r>
            <a:endParaRPr lang="en-US" sz="1100" dirty="0"/>
          </a:p>
        </p:txBody>
      </p:sp>
      <p:sp>
        <p:nvSpPr>
          <p:cNvPr id="13" name="cell"/>
          <p:cNvSpPr/>
          <p:nvPr/>
        </p:nvSpPr>
        <p:spPr>
          <a:xfrm>
            <a:off x="7176052" y="1280160"/>
            <a:ext cx="1474172" cy="548640"/>
          </a:xfrm>
          <a:prstGeom prst="rect">
            <a:avLst/>
          </a:prstGeom>
          <a:solidFill>
            <a:srgbClr val="B4561A"/>
          </a:solidFill>
          <a:ln w="12700">
            <a:solidFill>
              <a:srgbClr val="B4561A"/>
            </a:solidFill>
            <a:prstDash val="solid"/>
          </a:ln>
        </p:spPr>
      </p:sp>
      <p:sp>
        <p:nvSpPr>
          <p:cNvPr id="14" name="cell-text"/>
          <p:cNvSpPr txBox="1"/>
          <p:nvPr/>
        </p:nvSpPr>
        <p:spPr>
          <a:xfrm>
            <a:off x="7176052" y="1280160"/>
            <a:ext cx="1474172" cy="5486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turn 4</a:t>
            </a:r>
            <a:endParaRPr lang="en-US" sz="1100" dirty="0"/>
          </a:p>
        </p:txBody>
      </p:sp>
      <p:sp>
        <p:nvSpPr>
          <p:cNvPr id="15" name="bar-label"/>
          <p:cNvSpPr txBox="1"/>
          <p:nvPr/>
        </p:nvSpPr>
        <p:spPr>
          <a:xfrm>
            <a:off x="457200" y="2011680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After trim</a:t>
            </a:r>
            <a:endParaRPr lang="en-US" sz="1400" dirty="0"/>
          </a:p>
        </p:txBody>
      </p:sp>
      <p:sp>
        <p:nvSpPr>
          <p:cNvPr id="16" name="cell"/>
          <p:cNvSpPr/>
          <p:nvPr/>
        </p:nvSpPr>
        <p:spPr>
          <a:xfrm>
            <a:off x="1737360" y="2011680"/>
            <a:ext cx="708007" cy="548640"/>
          </a:xfrm>
          <a:prstGeom prst="rect">
            <a:avLst/>
          </a:prstGeom>
          <a:solidFill>
            <a:srgbClr val="7A8A96"/>
          </a:solidFill>
          <a:ln w="12700">
            <a:solidFill>
              <a:srgbClr val="7A8A96"/>
            </a:solidFill>
            <a:prstDash val="solid"/>
          </a:ln>
        </p:spPr>
      </p:sp>
      <p:sp>
        <p:nvSpPr>
          <p:cNvPr id="17" name="cell-text"/>
          <p:cNvSpPr txBox="1"/>
          <p:nvPr/>
        </p:nvSpPr>
        <p:spPr>
          <a:xfrm>
            <a:off x="1737360" y="2011680"/>
            <a:ext cx="708007" cy="5486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system</a:t>
            </a:r>
            <a:endParaRPr lang="en-US" sz="1100" dirty="0"/>
          </a:p>
        </p:txBody>
      </p:sp>
      <p:sp>
        <p:nvSpPr>
          <p:cNvPr id="18" name="cell"/>
          <p:cNvSpPr/>
          <p:nvPr/>
        </p:nvSpPr>
        <p:spPr>
          <a:xfrm>
            <a:off x="2481943" y="2011680"/>
            <a:ext cx="1204395" cy="548640"/>
          </a:xfrm>
          <a:prstGeom prst="rect">
            <a:avLst/>
          </a:prstGeom>
          <a:solidFill>
            <a:srgbClr val="D8E0E5"/>
          </a:solidFill>
          <a:ln w="12700">
            <a:solidFill>
              <a:srgbClr val="D8E0E5"/>
            </a:solidFill>
            <a:prstDash val="solid"/>
          </a:ln>
        </p:spPr>
      </p:sp>
      <p:sp>
        <p:nvSpPr>
          <p:cNvPr id="19" name="cell-text"/>
          <p:cNvSpPr txBox="1"/>
          <p:nvPr/>
        </p:nvSpPr>
        <p:spPr>
          <a:xfrm>
            <a:off x="2481943" y="2011680"/>
            <a:ext cx="1204395" cy="5486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A6B78"/>
                </a:solidFill>
              </a:rPr>
              <a:t>dropped</a:t>
            </a:r>
            <a:endParaRPr lang="en-US" sz="1100" dirty="0"/>
          </a:p>
        </p:txBody>
      </p:sp>
      <p:sp>
        <p:nvSpPr>
          <p:cNvPr id="20" name="cell"/>
          <p:cNvSpPr/>
          <p:nvPr/>
        </p:nvSpPr>
        <p:spPr>
          <a:xfrm>
            <a:off x="3722914" y="2011680"/>
            <a:ext cx="1204395" cy="548640"/>
          </a:xfrm>
          <a:prstGeom prst="rect">
            <a:avLst/>
          </a:prstGeom>
          <a:solidFill>
            <a:srgbClr val="0B7A75"/>
          </a:solidFill>
          <a:ln w="12700">
            <a:solidFill>
              <a:srgbClr val="0B7A75"/>
            </a:solidFill>
            <a:prstDash val="solid"/>
          </a:ln>
        </p:spPr>
      </p:sp>
      <p:sp>
        <p:nvSpPr>
          <p:cNvPr id="21" name="cell-text"/>
          <p:cNvSpPr txBox="1"/>
          <p:nvPr/>
        </p:nvSpPr>
        <p:spPr>
          <a:xfrm>
            <a:off x="3722914" y="2011680"/>
            <a:ext cx="1204395" cy="5486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turn 2</a:t>
            </a:r>
            <a:endParaRPr lang="en-US" sz="1100" dirty="0"/>
          </a:p>
        </p:txBody>
      </p:sp>
      <p:sp>
        <p:nvSpPr>
          <p:cNvPr id="22" name="cell"/>
          <p:cNvSpPr/>
          <p:nvPr/>
        </p:nvSpPr>
        <p:spPr>
          <a:xfrm>
            <a:off x="4963886" y="2011680"/>
            <a:ext cx="1204395" cy="548640"/>
          </a:xfrm>
          <a:prstGeom prst="rect">
            <a:avLst/>
          </a:prstGeom>
          <a:solidFill>
            <a:srgbClr val="8A4FB0"/>
          </a:solidFill>
          <a:ln w="12700">
            <a:solidFill>
              <a:srgbClr val="8A4FB0"/>
            </a:solidFill>
            <a:prstDash val="solid"/>
          </a:ln>
        </p:spPr>
      </p:sp>
      <p:sp>
        <p:nvSpPr>
          <p:cNvPr id="23" name="cell-text"/>
          <p:cNvSpPr txBox="1"/>
          <p:nvPr/>
        </p:nvSpPr>
        <p:spPr>
          <a:xfrm>
            <a:off x="4963886" y="2011680"/>
            <a:ext cx="1204395" cy="5486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turn 3</a:t>
            </a:r>
            <a:endParaRPr lang="en-US" sz="1100" dirty="0"/>
          </a:p>
        </p:txBody>
      </p:sp>
      <p:sp>
        <p:nvSpPr>
          <p:cNvPr id="24" name="cell"/>
          <p:cNvSpPr/>
          <p:nvPr/>
        </p:nvSpPr>
        <p:spPr>
          <a:xfrm>
            <a:off x="6204857" y="2011680"/>
            <a:ext cx="1204395" cy="548640"/>
          </a:xfrm>
          <a:prstGeom prst="rect">
            <a:avLst/>
          </a:prstGeom>
          <a:solidFill>
            <a:srgbClr val="B4561A"/>
          </a:solidFill>
          <a:ln w="12700">
            <a:solidFill>
              <a:srgbClr val="B4561A"/>
            </a:solidFill>
            <a:prstDash val="solid"/>
          </a:ln>
        </p:spPr>
      </p:sp>
      <p:sp>
        <p:nvSpPr>
          <p:cNvPr id="25" name="cell-text"/>
          <p:cNvSpPr txBox="1"/>
          <p:nvPr/>
        </p:nvSpPr>
        <p:spPr>
          <a:xfrm>
            <a:off x="6204857" y="2011680"/>
            <a:ext cx="1204395" cy="5486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turn 4</a:t>
            </a:r>
            <a:endParaRPr lang="en-US" sz="1100" dirty="0"/>
          </a:p>
        </p:txBody>
      </p:sp>
      <p:sp>
        <p:nvSpPr>
          <p:cNvPr id="26" name="cell"/>
          <p:cNvSpPr/>
          <p:nvPr/>
        </p:nvSpPr>
        <p:spPr>
          <a:xfrm>
            <a:off x="7445829" y="2011680"/>
            <a:ext cx="1204395" cy="548640"/>
          </a:xfrm>
          <a:prstGeom prst="rect">
            <a:avLst/>
          </a:prstGeom>
          <a:solidFill>
            <a:srgbClr val="0B3B3C"/>
          </a:solidFill>
          <a:ln w="12700">
            <a:solidFill>
              <a:srgbClr val="0B3B3C"/>
            </a:solidFill>
            <a:prstDash val="solid"/>
          </a:ln>
        </p:spPr>
      </p:sp>
      <p:sp>
        <p:nvSpPr>
          <p:cNvPr id="27" name="cell-text"/>
          <p:cNvSpPr txBox="1"/>
          <p:nvPr/>
        </p:nvSpPr>
        <p:spPr>
          <a:xfrm>
            <a:off x="7445829" y="2011680"/>
            <a:ext cx="1204395" cy="5486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turn 5</a:t>
            </a:r>
            <a:endParaRPr lang="en-US" sz="1100" dirty="0"/>
          </a:p>
        </p:txBody>
      </p:sp>
      <p:sp>
        <p:nvSpPr>
          <p:cNvPr id="28" name="bullets"/>
          <p:cNvSpPr txBox="1"/>
          <p:nvPr/>
        </p:nvSpPr>
        <p:spPr>
          <a:xfrm>
            <a:off x="457200" y="292608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Trim fires at 10 turns, or when the last prompt used over 3/4 of num_ctx (6144 tokens)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It drops whole turns only, so a tool result never loses its call</a:t>
            </a:r>
            <a:endParaRPr lang="en-US" sz="1500" dirty="0"/>
          </a:p>
        </p:txBody>
      </p:sp>
      <p:sp>
        <p:nvSpPr>
          <p:cNvPr id="29" name="callout-bg"/>
          <p:cNvSpPr/>
          <p:nvPr/>
        </p:nvSpPr>
        <p:spPr>
          <a:xfrm>
            <a:off x="457200" y="3840480"/>
            <a:ext cx="8229600" cy="868680"/>
          </a:xfrm>
          <a:prstGeom prst="roundRect">
            <a:avLst>
              <a:gd name="adj" fmla="val 8421"/>
            </a:avLst>
          </a:prstGeom>
          <a:solidFill>
            <a:srgbClr val="EEF3F4"/>
          </a:solidFill>
          <a:ln w="12700">
            <a:solidFill>
              <a:srgbClr val="EEF3F4"/>
            </a:solidFill>
            <a:prstDash val="solid"/>
          </a:ln>
        </p:spPr>
      </p:sp>
      <p:sp>
        <p:nvSpPr>
          <p:cNvPr id="30" name="callout"/>
          <p:cNvSpPr txBox="1"/>
          <p:nvPr/>
        </p:nvSpPr>
        <p:spPr>
          <a:xfrm>
            <a:off x="594360" y="3913632"/>
            <a:ext cx="7955280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B4561A"/>
                </a:solidFill>
              </a:rPr>
              <a:t>THE TRADE-OFF</a:t>
            </a:r>
            <a:endParaRPr lang="en-US" sz="1200" dirty="0"/>
          </a:p>
          <a:p>
            <a:pPr indent="0" marL="0">
              <a:buNone/>
            </a:pPr>
            <a:r>
              <a:rPr lang="en-US" sz="1400" dirty="0">
                <a:solidFill>
                  <a:srgbClr val="14212B"/>
                </a:solidFill>
              </a:rPr>
              <a:t>Real systems summarize old turns or pin standing instructions in the system prompt.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8A9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B3B3C"/>
                </a:solidFill>
              </a:rPr>
              <a:t>One user message, end to end</a:t>
            </a:r>
            <a:endParaRPr lang="en-US" sz="3000" dirty="0"/>
          </a:p>
        </p:txBody>
      </p:sp>
      <p:sp>
        <p:nvSpPr>
          <p:cNvPr id="4" name="bullets"/>
          <p:cNvSpPr txBox="1"/>
          <p:nvPr/>
        </p:nvSpPr>
        <p:spPr>
          <a:xfrm>
            <a:off x="457200" y="1280160"/>
            <a:ext cx="45720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trim() first, then add the user message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Send system prompt plus history with both tools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Run any tool calls; results go into history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Repeat up to 6 steps, then return the reply</a:t>
            </a:r>
            <a:endParaRPr lang="en-US" sz="1600" dirty="0"/>
          </a:p>
        </p:txBody>
      </p:sp>
      <p:sp>
        <p:nvSpPr>
          <p:cNvPr id="5" name="try"/>
          <p:cNvSpPr txBox="1"/>
          <p:nvPr/>
        </p:nvSpPr>
        <p:spPr>
          <a:xfrm>
            <a:off x="457200" y="3383280"/>
            <a:ext cx="45720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B7A7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Try it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421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 joke about dogs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421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another one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421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explain that one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421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 now on nothing political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421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/reset</a:t>
            </a:r>
            <a:endParaRPr lang="en-US" sz="1300" dirty="0"/>
          </a:p>
        </p:txBody>
      </p:sp>
      <p:pic>
        <p:nvPicPr>
          <p:cNvPr id="6" name="Stage 3 flow" descr="Stage 3 flow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533010" y="1005840"/>
            <a:ext cx="3015739" cy="374904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8A9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B3B3C"/>
                </a:solidFill>
              </a:rPr>
              <a:t>Next: stage 3b in langchaingo</a:t>
            </a:r>
            <a:endParaRPr lang="en-US" sz="3000" dirty="0"/>
          </a:p>
        </p:txBody>
      </p:sp>
      <p:graphicFrame>
        <p:nvGraphicFramePr>
          <p:cNvPr id="13" name="framework-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8229600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2377440"/>
                <a:gridCol w="329184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Hand-written in stage 3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B3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Framework concept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B3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What to look for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B3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4212B"/>
                          </a:solidFill>
                        </a:rPr>
                        <a:t>Ollama HTTP structs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4212B"/>
                          </a:solidFill>
                        </a:rPr>
                        <a:t>LLM provider object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4212B"/>
                          </a:solidFill>
                        </a:rPr>
                        <a:t>Are num_ctx and keep_alive reachable?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4212B"/>
                          </a:solidFill>
                        </a:rPr>
                        <a:t>Tool{Def, Run} registry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4212B"/>
                          </a:solidFill>
                        </a:rPr>
                        <a:t>Tool interface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4212B"/>
                          </a:solidFill>
                        </a:rPr>
                        <a:t>Can jokeapi.Schema() be reused?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4212B"/>
                          </a:solidFill>
                        </a:rPr>
                        <a:t>for step loop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4212B"/>
                          </a:solidFill>
                        </a:rPr>
                        <a:t>Agent executor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4212B"/>
                          </a:solidFill>
                        </a:rPr>
                        <a:t>Where is the step cap?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4212B"/>
                          </a:solidFill>
                        </a:rPr>
                        <a:t>history + trim()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4212B"/>
                          </a:solidFill>
                        </a:rPr>
                        <a:t>Memory component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4212B"/>
                          </a:solidFill>
                        </a:rPr>
                        <a:t>Is trimming turn-aware?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4212B"/>
                          </a:solidFill>
                        </a:rPr>
                        <a:t>-trace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4212B"/>
                          </a:solidFill>
                        </a:rPr>
                        <a:t>Callbacks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4212B"/>
                          </a:solidFill>
                        </a:rPr>
                        <a:t>Can you see every prompt?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note"/>
          <p:cNvSpPr txBox="1"/>
          <p:nvPr/>
        </p:nvSpPr>
        <p:spPr>
          <a:xfrm>
            <a:off x="457200" y="42976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A6B78"/>
                </a:solidFill>
              </a:rPr>
              <a:t>Planned, not built yet. The goal is to see what a framework hides.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8A9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B3B3C"/>
                </a:solidFill>
              </a:rPr>
              <a:t>Stage 4: MCP, stage 5: evals</a:t>
            </a:r>
            <a:endParaRPr lang="en-US" sz="3000" dirty="0"/>
          </a:p>
        </p:txBody>
      </p:sp>
      <p:pic>
        <p:nvPicPr>
          <p:cNvPr id="4" name="MCP diagram" descr="MCP diagram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1674796"/>
            <a:ext cx="4572000" cy="1588168"/>
          </a:xfrm>
          <a:prstGeom prst="rect">
            <a:avLst/>
          </a:prstGeom>
        </p:spPr>
      </p:pic>
      <p:sp>
        <p:nvSpPr>
          <p:cNvPr id="5" name="bullets"/>
          <p:cNvSpPr txBox="1"/>
          <p:nvPr/>
        </p:nvSpPr>
        <p:spPr>
          <a:xfrm>
            <a:off x="5120640" y="1280160"/>
            <a:ext cx="36576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Stage 4: the joke tools become an MCP server that Claude Code and the agent both use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Stage 5: a table of prompts mapped to expected requests, scored per stage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Known weaknesses become eval cases</a:t>
            </a:r>
            <a:endParaRPr lang="en-US" sz="1500" dirty="0"/>
          </a:p>
        </p:txBody>
      </p:sp>
      <p:sp>
        <p:nvSpPr>
          <p:cNvPr id="6" name="caption"/>
          <p:cNvSpPr txBox="1"/>
          <p:nvPr/>
        </p:nvSpPr>
        <p:spPr>
          <a:xfrm>
            <a:off x="457200" y="402336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B78"/>
                </a:solidFill>
              </a:rPr>
              <a:t>Planned shape: one tool implementation, many clients.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8A9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B3B3C"/>
                </a:solidFill>
              </a:rPr>
              <a:t>Reuse it: swap the domain, keep the skeleton</a:t>
            </a:r>
            <a:endParaRPr lang="en-US" sz="3000" dirty="0"/>
          </a:p>
        </p:txBody>
      </p:sp>
      <p:graphicFrame>
        <p:nvGraphicFramePr>
          <p:cNvPr id="15" name="reuse-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822960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2743200"/>
                <a:gridCol w="310896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In agent-lab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B3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In your project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B3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Support-ticket bot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B3C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2B"/>
                          </a:solidFill>
                        </a:rPr>
                        <a:t>jokeapi.Request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2B"/>
                          </a:solidFill>
                        </a:rPr>
                        <a:t>Typed request struct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2B"/>
                          </a:solidFill>
                        </a:rPr>
                        <a:t>TicketQuery{Status, Priority}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2B"/>
                          </a:solidFill>
                        </a:rPr>
                        <a:t>Normalize()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2B"/>
                          </a:solidFill>
                        </a:rPr>
                        <a:t>Validate model output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2B"/>
                          </a:solidFill>
                        </a:rPr>
                        <a:t>Reject unknown assignees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2B"/>
                          </a:solidFill>
                        </a:rPr>
                        <a:t>get_joke tool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2B"/>
                          </a:solidFill>
                        </a:rPr>
                        <a:t>One tool per API capability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2B"/>
                          </a:solidFill>
                        </a:rPr>
                        <a:t>search_tickets, add_comment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2B"/>
                          </a:solidFill>
                        </a:rPr>
                        <a:t>"No matching joke"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2B"/>
                          </a:solidFill>
                        </a:rPr>
                        <a:t>Errors the model can act on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2B"/>
                          </a:solidFill>
                        </a:rPr>
                        <a:t>"0 tickets. Widen the dates."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2B"/>
                          </a:solidFill>
                        </a:rPr>
                        <a:t>Blacklist never loosened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2B"/>
                          </a:solidFill>
                        </a:rPr>
                        <a:t>Hard constraints in code too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2B"/>
                          </a:solidFill>
                        </a:rPr>
                        <a:t>Read-only, one project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2B"/>
                          </a:solidFill>
                        </a:rPr>
                        <a:t>seenJokes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2B"/>
                          </a:solidFill>
                        </a:rPr>
                        <a:t>Exact state in code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2B"/>
                          </a:solidFill>
                        </a:rPr>
                        <a:t>Tickets already shown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2B"/>
                          </a:solidFill>
                        </a:rPr>
                        <a:t>trim()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2B"/>
                          </a:solidFill>
                        </a:rPr>
                        <a:t>Context policy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2B"/>
                          </a:solidFill>
                        </a:rPr>
                        <a:t>Pin the user's project and role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0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8A9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45720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Habits to take with you</a:t>
            </a:r>
            <a:endParaRPr lang="en-US" sz="3400" dirty="0"/>
          </a:p>
        </p:txBody>
      </p:sp>
      <p:sp>
        <p:nvSpPr>
          <p:cNvPr id="3" name="habit-bg"/>
          <p:cNvSpPr/>
          <p:nvPr/>
        </p:nvSpPr>
        <p:spPr>
          <a:xfrm>
            <a:off x="548640" y="1371600"/>
            <a:ext cx="2560320" cy="1188720"/>
          </a:xfrm>
          <a:prstGeom prst="roundRect">
            <a:avLst>
              <a:gd name="adj" fmla="val 6154"/>
            </a:avLst>
          </a:prstGeom>
          <a:solidFill>
            <a:srgbClr val="14505A"/>
          </a:solidFill>
          <a:ln w="12700">
            <a:solidFill>
              <a:srgbClr val="14505A"/>
            </a:solidFill>
            <a:prstDash val="solid"/>
          </a:ln>
        </p:spPr>
      </p:sp>
      <p:sp>
        <p:nvSpPr>
          <p:cNvPr id="4" name="habit"/>
          <p:cNvSpPr txBox="1"/>
          <p:nvPr/>
        </p:nvSpPr>
        <p:spPr>
          <a:xfrm>
            <a:off x="685800" y="1463040"/>
            <a:ext cx="2286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4CC9C0"/>
                </a:solidFill>
              </a:rPr>
              <a:t>Typed boundaries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Models write structs, not strings.</a:t>
            </a:r>
            <a:endParaRPr lang="en-US" sz="1600" dirty="0"/>
          </a:p>
        </p:txBody>
      </p:sp>
      <p:sp>
        <p:nvSpPr>
          <p:cNvPr id="5" name="habit-bg"/>
          <p:cNvSpPr/>
          <p:nvPr/>
        </p:nvSpPr>
        <p:spPr>
          <a:xfrm>
            <a:off x="3291840" y="1371600"/>
            <a:ext cx="2560320" cy="1188720"/>
          </a:xfrm>
          <a:prstGeom prst="roundRect">
            <a:avLst>
              <a:gd name="adj" fmla="val 6154"/>
            </a:avLst>
          </a:prstGeom>
          <a:solidFill>
            <a:srgbClr val="14505A"/>
          </a:solidFill>
          <a:ln w="12700">
            <a:solidFill>
              <a:srgbClr val="14505A"/>
            </a:solidFill>
            <a:prstDash val="solid"/>
          </a:ln>
        </p:spPr>
      </p:sp>
      <p:sp>
        <p:nvSpPr>
          <p:cNvPr id="6" name="habit"/>
          <p:cNvSpPr txBox="1"/>
          <p:nvPr/>
        </p:nvSpPr>
        <p:spPr>
          <a:xfrm>
            <a:off x="3429000" y="1463040"/>
            <a:ext cx="2286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4CC9C0"/>
                </a:solidFill>
              </a:rPr>
              <a:t>Errors go to the model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Return failures as results.</a:t>
            </a:r>
            <a:endParaRPr lang="en-US" sz="1600" dirty="0"/>
          </a:p>
        </p:txBody>
      </p:sp>
      <p:sp>
        <p:nvSpPr>
          <p:cNvPr id="7" name="habit-bg"/>
          <p:cNvSpPr/>
          <p:nvPr/>
        </p:nvSpPr>
        <p:spPr>
          <a:xfrm>
            <a:off x="6035040" y="1371600"/>
            <a:ext cx="2560320" cy="1188720"/>
          </a:xfrm>
          <a:prstGeom prst="roundRect">
            <a:avLst>
              <a:gd name="adj" fmla="val 6154"/>
            </a:avLst>
          </a:prstGeom>
          <a:solidFill>
            <a:srgbClr val="14505A"/>
          </a:solidFill>
          <a:ln w="12700">
            <a:solidFill>
              <a:srgbClr val="14505A"/>
            </a:solidFill>
            <a:prstDash val="solid"/>
          </a:ln>
        </p:spPr>
      </p:sp>
      <p:sp>
        <p:nvSpPr>
          <p:cNvPr id="8" name="habit"/>
          <p:cNvSpPr txBox="1"/>
          <p:nvPr/>
        </p:nvSpPr>
        <p:spPr>
          <a:xfrm>
            <a:off x="6172200" y="1463040"/>
            <a:ext cx="2286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4CC9C0"/>
                </a:solidFill>
              </a:rPr>
              <a:t>Cap every loop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Steps, retries and output.</a:t>
            </a:r>
            <a:endParaRPr lang="en-US" sz="1600" dirty="0"/>
          </a:p>
        </p:txBody>
      </p:sp>
      <p:sp>
        <p:nvSpPr>
          <p:cNvPr id="9" name="habit-bg"/>
          <p:cNvSpPr/>
          <p:nvPr/>
        </p:nvSpPr>
        <p:spPr>
          <a:xfrm>
            <a:off x="548640" y="2743200"/>
            <a:ext cx="2560320" cy="1188720"/>
          </a:xfrm>
          <a:prstGeom prst="roundRect">
            <a:avLst>
              <a:gd name="adj" fmla="val 6154"/>
            </a:avLst>
          </a:prstGeom>
          <a:solidFill>
            <a:srgbClr val="14505A"/>
          </a:solidFill>
          <a:ln w="12700">
            <a:solidFill>
              <a:srgbClr val="14505A"/>
            </a:solidFill>
            <a:prstDash val="solid"/>
          </a:ln>
        </p:spPr>
      </p:sp>
      <p:sp>
        <p:nvSpPr>
          <p:cNvPr id="10" name="habit"/>
          <p:cNvSpPr txBox="1"/>
          <p:nvPr/>
        </p:nvSpPr>
        <p:spPr>
          <a:xfrm>
            <a:off x="685800" y="2834640"/>
            <a:ext cx="2286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4CC9C0"/>
                </a:solidFill>
              </a:rPr>
              <a:t>Trace everything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Read the prompts and results.</a:t>
            </a:r>
            <a:endParaRPr lang="en-US" sz="1600" dirty="0"/>
          </a:p>
        </p:txBody>
      </p:sp>
      <p:sp>
        <p:nvSpPr>
          <p:cNvPr id="11" name="habit-bg"/>
          <p:cNvSpPr/>
          <p:nvPr/>
        </p:nvSpPr>
        <p:spPr>
          <a:xfrm>
            <a:off x="3291840" y="2743200"/>
            <a:ext cx="2560320" cy="1188720"/>
          </a:xfrm>
          <a:prstGeom prst="roundRect">
            <a:avLst>
              <a:gd name="adj" fmla="val 6154"/>
            </a:avLst>
          </a:prstGeom>
          <a:solidFill>
            <a:srgbClr val="14505A"/>
          </a:solidFill>
          <a:ln w="12700">
            <a:solidFill>
              <a:srgbClr val="14505A"/>
            </a:solidFill>
            <a:prstDash val="solid"/>
          </a:ln>
        </p:spPr>
      </p:sp>
      <p:sp>
        <p:nvSpPr>
          <p:cNvPr id="12" name="habit"/>
          <p:cNvSpPr txBox="1"/>
          <p:nvPr/>
        </p:nvSpPr>
        <p:spPr>
          <a:xfrm>
            <a:off x="3429000" y="2834640"/>
            <a:ext cx="2286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4CC9C0"/>
                </a:solidFill>
              </a:rPr>
              <a:t>Fake the model in tests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Script a conversation.</a:t>
            </a:r>
            <a:endParaRPr lang="en-US" sz="1600" dirty="0"/>
          </a:p>
        </p:txBody>
      </p:sp>
      <p:sp>
        <p:nvSpPr>
          <p:cNvPr id="13" name="habit-bg"/>
          <p:cNvSpPr/>
          <p:nvPr/>
        </p:nvSpPr>
        <p:spPr>
          <a:xfrm>
            <a:off x="6035040" y="2743200"/>
            <a:ext cx="2560320" cy="1188720"/>
          </a:xfrm>
          <a:prstGeom prst="roundRect">
            <a:avLst>
              <a:gd name="adj" fmla="val 6154"/>
            </a:avLst>
          </a:prstGeom>
          <a:solidFill>
            <a:srgbClr val="14505A"/>
          </a:solidFill>
          <a:ln w="12700">
            <a:solidFill>
              <a:srgbClr val="14505A"/>
            </a:solidFill>
            <a:prstDash val="solid"/>
          </a:ln>
        </p:spPr>
      </p:sp>
      <p:sp>
        <p:nvSpPr>
          <p:cNvPr id="14" name="habit"/>
          <p:cNvSpPr txBox="1"/>
          <p:nvPr/>
        </p:nvSpPr>
        <p:spPr>
          <a:xfrm>
            <a:off x="6172200" y="2834640"/>
            <a:ext cx="2286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4CC9C0"/>
                </a:solidFill>
              </a:rPr>
              <a:t>Measure with evals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Turn failures into cases.</a:t>
            </a:r>
            <a:endParaRPr lang="en-US" sz="1600" dirty="0"/>
          </a:p>
        </p:txBody>
      </p:sp>
      <p:sp>
        <p:nvSpPr>
          <p:cNvPr id="15" name="cmd"/>
          <p:cNvSpPr txBox="1"/>
          <p:nvPr/>
        </p:nvSpPr>
        <p:spPr>
          <a:xfrm>
            <a:off x="548640" y="429768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make test   ·   go run ./cmd/jokes -stage 3 -trace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CC9C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AgentLab">
  <a:themeElements>
    <a:clrScheme name="AgentLab">
      <a:dk1>
        <a:srgbClr val="14212B"/>
      </a:dk1>
      <a:lt1>
        <a:srgbClr val="FFFFFF"/>
      </a:lt1>
      <a:dk2>
        <a:srgbClr val="0B3B3C"/>
      </a:dk2>
      <a:lt2>
        <a:srgbClr val="EEF3F4"/>
      </a:lt2>
      <a:accent1>
        <a:srgbClr val="0B7A75"/>
      </a:accent1>
      <a:accent2>
        <a:srgbClr val="2F6FB5"/>
      </a:accent2>
      <a:accent3>
        <a:srgbClr val="8A4FB0"/>
      </a:accent3>
      <a:accent4>
        <a:srgbClr val="B4561A"/>
      </a:accent4>
      <a:accent5>
        <a:srgbClr val="7A8A96"/>
      </a:accent5>
      <a:accent6>
        <a:srgbClr val="4CC9C0"/>
      </a:accent6>
      <a:hlink>
        <a:srgbClr val="0B7A75"/>
      </a:hlink>
      <a:folHlink>
        <a:srgbClr val="8A4FB0"/>
      </a:folHlink>
    </a:clrScheme>
    <a:fontScheme name="AgentLab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Agent Lab: build an agent from scratch</dc:title>
  <dc:subject>PptxGenJS Presentation</dc:subject>
  <dc:creator>PptxGenJS</dc:creator>
  <cp:lastModifiedBy>PptxGenJS</cp:lastModifiedBy>
  <cp:revision>1</cp:revision>
  <dcterms:created xsi:type="dcterms:W3CDTF">2026-10-06T15:28:01Z</dcterms:created>
  <dcterms:modified xsi:type="dcterms:W3CDTF">2026-10-06T15:28:01Z</dcterms:modified>
</cp:coreProperties>
</file>