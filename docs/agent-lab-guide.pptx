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2"/>
    <p:sldId id="272" r:id="rId23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9a194ed-49d1-5798-b742-1b54875ef0cc}">
          <p14:sldIdLst>
            <p14:sldId id="256"/>
            <p14:sldId id="257"/>
            <p14:sldId id="258"/>
            <p14:sldId id="259"/>
          </p14:sldIdLst>
        </p14:section>
        <p14:section name="Stages" id="{fdff43a9-cafe-21fc-d9f6-6e4b62b4dc57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Next and beyond" id="{f8cb0247-28f1-1c01-8e6e-e3773ffa7158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agent-lab is a learning project. Each stage teaches one LLM or agent concept in a tiny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eight stages are built and tested offline. Stage 6 OpenAI and Claude adapters have not run against the live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LLM. strings.Contains for categories, type, and no-flag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LLM call constrained by a JSON schema. Ollama turns the schema into a grammar.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Frameworks are conveniences over this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Cubs, then Chicago, then no filter. The racist blacklist is never loosened.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has no memory. Memory is re-sending the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 -ctx 2048 to force trimming and watch a restriction vanish.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loop as stage 2, plus where history lives and the trim step in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3b findings. The native langchaingo Ollama client ignores tool definitions, so we use its OpenAI client against Ollama /v1, which cannot set num_ctx or keep_alive. Tools take a single string. The executor aborts on tool errors. Memory is flattened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MCP server exposes get_joke and search_dad_jokes. Claude Code can connect to it. Stage 6 reuses the same tool code in-process.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domain is a support-ticket 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Scores are single runs on the local model on 2026-10-06. The stage 0 score is exact. The stage 6 failure was the known unasked-explanation weakness.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Adapters hide the wire differences: system prompt placement, argument encoding, tool result placement and call IDs. Run the same eval per provider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C9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3B3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C9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agent from scratch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One idea at a time, from keyword matching to tool-calling agents, MCP, evals and provider switching, in a project that fetches jokes.</a:t>
            </a:r>
            <a:endParaRPr lang="en-US" sz="2000" dirty="0"/>
          </a:p>
        </p:txBody>
      </p:sp>
      <p:sp>
        <p:nvSpPr>
          <p:cNvPr id="4" name="footer-line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C9C0"/>
                </a:solidFill>
              </a:rPr>
              <a:t>agent-lab  ·  Go  ·  Ollama  ·  all stages 0 to 6 built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C9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Eight stages, one dial: who is in charge?</a:t>
            </a:r>
            <a:endParaRPr lang="en-US" sz="3000" dirty="0"/>
          </a:p>
        </p:txBody>
      </p:sp>
      <p:sp>
        <p:nvSpPr>
          <p:cNvPr id="4" name="stage-0"/>
          <p:cNvSpPr/>
          <p:nvPr/>
        </p:nvSpPr>
        <p:spPr>
          <a:xfrm>
            <a:off x="45720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7A8A96"/>
          </a:solidFill>
          <a:ln w="19050">
            <a:solidFill>
              <a:srgbClr val="7A8A96"/>
            </a:solidFill>
          </a:ln>
        </p:spPr>
      </p:sp>
      <p:sp>
        <p:nvSpPr>
          <p:cNvPr id="5" name="stage-text-0"/>
          <p:cNvSpPr txBox="1"/>
          <p:nvPr/>
        </p:nvSpPr>
        <p:spPr>
          <a:xfrm>
            <a:off x="45720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Keywords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LLM</a:t>
            </a:r>
            <a:endParaRPr lang="en-US" sz="2400" dirty="0"/>
          </a:p>
        </p:txBody>
      </p:sp>
      <p:sp>
        <p:nvSpPr>
          <p:cNvPr id="6" name="stage-1"/>
          <p:cNvSpPr/>
          <p:nvPr/>
        </p:nvSpPr>
        <p:spPr>
          <a:xfrm>
            <a:off x="149733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2F6FB5"/>
          </a:solidFill>
          <a:ln w="19050">
            <a:solidFill>
              <a:srgbClr val="2F6FB5"/>
            </a:solidFill>
          </a:ln>
        </p:spPr>
      </p:sp>
      <p:sp>
        <p:nvSpPr>
          <p:cNvPr id="7" name="stage-text-1"/>
          <p:cNvSpPr txBox="1"/>
          <p:nvPr/>
        </p:nvSpPr>
        <p:spPr>
          <a:xfrm>
            <a:off x="149733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Structured output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LLM parses</a:t>
            </a:r>
            <a:endParaRPr lang="en-US" sz="2400" dirty="0"/>
          </a:p>
        </p:txBody>
      </p:sp>
      <p:sp>
        <p:nvSpPr>
          <p:cNvPr id="8" name="stage-2"/>
          <p:cNvSpPr/>
          <p:nvPr/>
        </p:nvSpPr>
        <p:spPr>
          <a:xfrm>
            <a:off x="253746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0B7A75"/>
          </a:solidFill>
          <a:ln w="19050">
            <a:solidFill>
              <a:srgbClr val="0B7A75"/>
            </a:solidFill>
          </a:ln>
        </p:spPr>
      </p:sp>
      <p:sp>
        <p:nvSpPr>
          <p:cNvPr id="9" name="stage-text-2"/>
          <p:cNvSpPr txBox="1"/>
          <p:nvPr/>
        </p:nvSpPr>
        <p:spPr>
          <a:xfrm>
            <a:off x="253746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 loop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LLM decides</a:t>
            </a:r>
            <a:endParaRPr lang="en-US" sz="2400" dirty="0"/>
          </a:p>
        </p:txBody>
      </p:sp>
      <p:sp>
        <p:nvSpPr>
          <p:cNvPr id="10" name="stage-3"/>
          <p:cNvSpPr/>
          <p:nvPr/>
        </p:nvSpPr>
        <p:spPr>
          <a:xfrm>
            <a:off x="357759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8A4FB0"/>
          </a:solidFill>
          <a:ln w="19050">
            <a:solidFill>
              <a:srgbClr val="8A4FB0"/>
            </a:solidFill>
          </a:ln>
        </p:spPr>
      </p:sp>
      <p:sp>
        <p:nvSpPr>
          <p:cNvPr id="11" name="stage-text-3"/>
          <p:cNvSpPr txBox="1"/>
          <p:nvPr/>
        </p:nvSpPr>
        <p:spPr>
          <a:xfrm>
            <a:off x="357759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 + memory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LLM remembers</a:t>
            </a:r>
            <a:endParaRPr lang="en-US" sz="2400" dirty="0"/>
          </a:p>
        </p:txBody>
      </p:sp>
      <p:sp>
        <p:nvSpPr>
          <p:cNvPr id="12" name="stage-3b"/>
          <p:cNvSpPr/>
          <p:nvPr/>
        </p:nvSpPr>
        <p:spPr>
          <a:xfrm>
            <a:off x="461772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B58AD0"/>
          </a:solidFill>
          <a:ln w="19050">
            <a:solidFill>
              <a:srgbClr val="B58AD0"/>
            </a:solidFill>
          </a:ln>
        </p:spPr>
      </p:sp>
      <p:sp>
        <p:nvSpPr>
          <p:cNvPr id="13" name="stage-text-3b"/>
          <p:cNvSpPr txBox="1"/>
          <p:nvPr/>
        </p:nvSpPr>
        <p:spPr>
          <a:xfrm>
            <a:off x="461772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langchaingo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same, framework</a:t>
            </a:r>
            <a:endParaRPr lang="en-US" sz="2400" dirty="0"/>
          </a:p>
        </p:txBody>
      </p:sp>
      <p:sp>
        <p:nvSpPr>
          <p:cNvPr id="14" name="stage-4"/>
          <p:cNvSpPr/>
          <p:nvPr/>
        </p:nvSpPr>
        <p:spPr>
          <a:xfrm>
            <a:off x="565785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B4561A"/>
          </a:solidFill>
          <a:ln w="19050">
            <a:solidFill>
              <a:srgbClr val="B4561A"/>
            </a:solidFill>
          </a:ln>
        </p:spPr>
      </p:sp>
      <p:sp>
        <p:nvSpPr>
          <p:cNvPr id="15" name="stage-text-4"/>
          <p:cNvSpPr txBox="1"/>
          <p:nvPr/>
        </p:nvSpPr>
        <p:spPr>
          <a:xfrm>
            <a:off x="565785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MCP server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shared tools</a:t>
            </a:r>
            <a:endParaRPr lang="en-US" sz="2400" dirty="0"/>
          </a:p>
        </p:txBody>
      </p:sp>
      <p:sp>
        <p:nvSpPr>
          <p:cNvPr id="16" name="stage-5"/>
          <p:cNvSpPr/>
          <p:nvPr/>
        </p:nvSpPr>
        <p:spPr>
          <a:xfrm>
            <a:off x="669798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3F7D2A"/>
          </a:solidFill>
          <a:ln w="19050">
            <a:solidFill>
              <a:srgbClr val="3F7D2A"/>
            </a:solidFill>
          </a:ln>
        </p:spPr>
      </p:sp>
      <p:sp>
        <p:nvSpPr>
          <p:cNvPr id="17" name="stage-text-5"/>
          <p:cNvSpPr txBox="1"/>
          <p:nvPr/>
        </p:nvSpPr>
        <p:spPr>
          <a:xfrm>
            <a:off x="669798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Evals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measure it</a:t>
            </a:r>
            <a:endParaRPr lang="en-US" sz="2400" dirty="0"/>
          </a:p>
        </p:txBody>
      </p:sp>
      <p:sp>
        <p:nvSpPr>
          <p:cNvPr id="90" name="stage-6"/>
          <p:cNvSpPr/>
          <p:nvPr/>
        </p:nvSpPr>
        <p:spPr>
          <a:xfrm>
            <a:off x="7738110" y="1280160"/>
            <a:ext cx="948690" cy="1371600"/>
          </a:xfrm>
          <a:prstGeom prst="roundRect">
            <a:avLst>
              <a:gd name="adj" fmla="val 6667"/>
            </a:avLst>
          </a:prstGeom>
          <a:solidFill>
            <a:srgbClr val="B02F6B"/>
          </a:solidFill>
          <a:ln w="19050">
            <a:solidFill>
              <a:srgbClr val="B02F6B"/>
            </a:solidFill>
          </a:ln>
        </p:spPr>
      </p:sp>
      <p:sp>
        <p:nvSpPr>
          <p:cNvPr id="91" name="stage-text-6"/>
          <p:cNvSpPr txBox="1"/>
          <p:nvPr/>
        </p:nvSpPr>
        <p:spPr>
          <a:xfrm>
            <a:off x="7738110" y="1280160"/>
            <a:ext cx="94869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Providers</a:t>
            </a:r>
            <a:endParaRPr lang="en-US" sz="2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any model</a:t>
            </a:r>
            <a:endParaRPr lang="en-US" sz="2400" dirty="0"/>
          </a:p>
        </p:txBody>
      </p:sp>
      <p:sp>
        <p:nvSpPr>
          <p:cNvPr id="18" name="lede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stage hands a little more control from your code to the model, then measures the result.</a:t>
            </a:r>
            <a:endParaRPr lang="en-US" sz="1800" dirty="0"/>
          </a:p>
        </p:txBody>
      </p:sp>
      <p:sp>
        <p:nvSpPr>
          <p:cNvPr id="19" name="bullets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Tiny domain on purpose: ask for a joke, get one from a real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Plain HTTP and Go structs, no SDK, so the wire format is visible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API and model is faked in tests; nothing needs the network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Who decides at each stage</a:t>
            </a:r>
            <a:endParaRPr lang="en-US" sz="3000" dirty="0"/>
          </a:p>
        </p:txBody>
      </p:sp>
      <p:graphicFrame>
        <p:nvGraphicFramePr>
          <p:cNvPr id="4" name="contro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Interprets request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Chooses next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Remembers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Picks tools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0 Keywords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your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your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1 Structured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your code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2 Tool loop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7A8A96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3 Multi-tool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</a:rPr>
                        <a:t>the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7A7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llout-bg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callout"/>
          <p:cNvSpPr txBox="1"/>
          <p:nvPr/>
        </p:nvSpPr>
        <p:spPr>
          <a:xfrm>
            <a:off x="594360" y="391363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75"/>
                </a:solidFill>
              </a:rPr>
              <a:t>DESIGN RULE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The joke client takes a typed Request, never free text. The model fills a form, your code normalizes it, and only then does anything touch the network.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The shared plumbing</a:t>
            </a:r>
            <a:endParaRPr lang="en-US" sz="3000" dirty="0"/>
          </a:p>
        </p:txBody>
      </p:sp>
      <p:pic>
        <p:nvPicPr>
          <p:cNvPr id="3" name="Plumbing diagram" descr="Plumbing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6227"/>
            <a:ext cx="5120640" cy="2808267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760720" y="12801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REPL builds one stage with -stage 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 stage reuses the Ollama, JokeAPI and trace packages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-trace prints every prompt, tool call, result and token count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Memory limits: ctx 8192, output 2048, keep-alive 2m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0: keywords, the baseline to beat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Lowercase the text and look for known words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Category names, "one-liner", "no politics"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Fast, free and predictable</a:t>
            </a:r>
            <a:endParaRPr lang="en-US" sz="1600" dirty="0"/>
          </a:p>
        </p:txBody>
      </p:sp>
      <p:sp>
        <p:nvSpPr>
          <p:cNvPr id="5" name="callout-bg"/>
          <p:cNvSpPr/>
          <p:nvPr/>
        </p:nvSpPr>
        <p:spPr>
          <a:xfrm>
            <a:off x="457200" y="320040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callout"/>
          <p:cNvSpPr txBox="1"/>
          <p:nvPr/>
        </p:nvSpPr>
        <p:spPr>
          <a:xfrm>
            <a:off x="594360" y="3273552"/>
            <a:ext cx="35661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61A"/>
                </a:solidFill>
              </a:rPr>
              <a:t>WHERE IT BREAKS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"keep it family friendly" matches nothing. "clean" blacklists only nsfw.</a:t>
            </a:r>
            <a:endParaRPr lang="en-US" sz="1200" dirty="0"/>
          </a:p>
        </p:txBody>
      </p:sp>
      <p:pic>
        <p:nvPicPr>
          <p:cNvPr id="7" name="Stage 0 flow" descr="Stage 0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220356"/>
            <a:ext cx="4297680" cy="14114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1: structured output, the model as parser</a:t>
            </a:r>
            <a:endParaRPr lang="en-US" sz="3000" dirty="0"/>
          </a:p>
        </p:txBody>
      </p:sp>
      <p:pic>
        <p:nvPicPr>
          <p:cNvPr id="4" name="Stage 1 sequence" descr="Stage 1 sequ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58927"/>
            <a:ext cx="5120640" cy="2042866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669280" y="1280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call, with the JSON schema in the format field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model can only emit valid JSON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Decode, then Normalize(): trust nothing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Ollama or Claude API behind one prompt</a:t>
            </a:r>
            <a:endParaRPr lang="en-US" sz="1500" dirty="0"/>
          </a:p>
        </p:txBody>
      </p:sp>
      <p:sp>
        <p:nvSpPr>
          <p:cNvPr id="6" name="callout-bg"/>
          <p:cNvSpPr/>
          <p:nvPr/>
        </p:nvSpPr>
        <p:spPr>
          <a:xfrm>
            <a:off x="5669280" y="35661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callout"/>
          <p:cNvSpPr txBox="1"/>
          <p:nvPr/>
        </p:nvSpPr>
        <p:spPr>
          <a:xfrm>
            <a:off x="5806440" y="3639312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75"/>
                </a:solidFill>
              </a:rPr>
              <a:t>LESSON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The LLM becomes a typed function: text in, struct 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2: the agent is a loop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2801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Describe a get_joke tool; the model decides when and how to call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Assistant message with tool calls goes back into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Tool errors return as results, so the model can retry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MaxSteps = 6 stops runaway loops</a:t>
            </a:r>
            <a:endParaRPr lang="en-US" sz="1600" dirty="0"/>
          </a:p>
        </p:txBody>
      </p:sp>
      <p:sp>
        <p:nvSpPr>
          <p:cNvPr id="5" name="callout-bg"/>
          <p:cNvSpPr/>
          <p:nvPr/>
        </p:nvSpPr>
        <p:spPr>
          <a:xfrm>
            <a:off x="457200" y="374904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callout"/>
          <p:cNvSpPr txBox="1"/>
          <p:nvPr/>
        </p:nvSpPr>
        <p:spPr>
          <a:xfrm>
            <a:off x="594360" y="382219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7A75"/>
                </a:solidFill>
              </a:rPr>
              <a:t>LESSON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An agent is a loop where the model's output can be an action.</a:t>
            </a:r>
            <a:endParaRPr lang="en-US" sz="1200" dirty="0"/>
          </a:p>
        </p:txBody>
      </p:sp>
      <p:pic>
        <p:nvPicPr>
          <p:cNvPr id="7" name="Agent loop flowchart" descr="Agent loop flow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2924" y="1005840"/>
            <a:ext cx="3375913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Retry without writing a retry loop</a:t>
            </a:r>
            <a:endParaRPr lang="en-US" sz="3000" dirty="0"/>
          </a:p>
        </p:txBody>
      </p:sp>
      <p:pic>
        <p:nvPicPr>
          <p:cNvPr id="4" name="Retry sequence" descr="Retry sequ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473"/>
            <a:ext cx="5394960" cy="3657215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6035040" y="128016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"No matching joke" goes back as a tool result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model shortens the filter and calls again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blacklist stays on through every attempt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tells the user what it relaxed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3: many tools and memory</a:t>
            </a:r>
            <a:endParaRPr lang="en-US" sz="3000" dirty="0"/>
          </a:p>
        </p:txBody>
      </p:sp>
      <p:pic>
        <p:nvPicPr>
          <p:cNvPr id="4" name="Tool registry" descr="Tool regi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6400800" cy="1920240"/>
          </a:xfrm>
          <a:prstGeom prst="rect">
            <a:avLst/>
          </a:prstGeom>
        </p:spPr>
      </p:pic>
      <p:sp>
        <p:nvSpPr>
          <p:cNvPr id="5" name="callout-bg"/>
          <p:cNvSpPr/>
          <p:nvPr/>
        </p:nvSpPr>
        <p:spPr>
          <a:xfrm>
            <a:off x="45720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callout"/>
          <p:cNvSpPr txBox="1"/>
          <p:nvPr/>
        </p:nvSpPr>
        <p:spPr>
          <a:xfrm>
            <a:off x="594360" y="3227832"/>
            <a:ext cx="2377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4FB0"/>
                </a:solidFill>
              </a:rPr>
              <a:t>TOOLS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get_joke (JokeAPI) and search_dad_jokes. Descriptions are part of the prompt.</a:t>
            </a:r>
            <a:endParaRPr lang="en-US" sz="1200" dirty="0"/>
          </a:p>
        </p:txBody>
      </p:sp>
      <p:sp>
        <p:nvSpPr>
          <p:cNvPr id="7" name="callout-bg"/>
          <p:cNvSpPr/>
          <p:nvPr/>
        </p:nvSpPr>
        <p:spPr>
          <a:xfrm>
            <a:off x="324612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callout"/>
          <p:cNvSpPr txBox="1"/>
          <p:nvPr/>
        </p:nvSpPr>
        <p:spPr>
          <a:xfrm>
            <a:off x="3383280" y="3227832"/>
            <a:ext cx="2377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4FB0"/>
                </a:solidFill>
              </a:rPr>
              <a:t>MEMORY IN THE MODEL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The transcript is re-sent each call. Flexible, fuzzy, first to be trimmed.</a:t>
            </a:r>
            <a:endParaRPr lang="en-US" sz="1200" dirty="0"/>
          </a:p>
        </p:txBody>
      </p:sp>
      <p:sp>
        <p:nvSpPr>
          <p:cNvPr id="9" name="callout-bg"/>
          <p:cNvSpPr/>
          <p:nvPr/>
        </p:nvSpPr>
        <p:spPr>
          <a:xfrm>
            <a:off x="603504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callout"/>
          <p:cNvSpPr txBox="1"/>
          <p:nvPr/>
        </p:nvSpPr>
        <p:spPr>
          <a:xfrm>
            <a:off x="6172200" y="3227832"/>
            <a:ext cx="23774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4FB0"/>
                </a:solidFill>
              </a:rPr>
              <a:t>MEMORY IN CODE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seenJokes tracks told jokes exactly and survives trimming.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Trimming can erase a restriction</a:t>
            </a:r>
            <a:endParaRPr lang="en-US" sz="3000" dirty="0"/>
          </a:p>
        </p:txBody>
      </p:sp>
      <p:sp>
        <p:nvSpPr>
          <p:cNvPr id="4" name="bar-label"/>
          <p:cNvSpPr txBox="1"/>
          <p:nvPr/>
        </p:nvSpPr>
        <p:spPr>
          <a:xfrm>
            <a:off x="45720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Before trim</a:t>
            </a:r>
            <a:endParaRPr lang="en-US" sz="1400" dirty="0"/>
          </a:p>
        </p:txBody>
      </p:sp>
      <p:sp>
        <p:nvSpPr>
          <p:cNvPr id="5" name="cell"/>
          <p:cNvSpPr/>
          <p:nvPr/>
        </p:nvSpPr>
        <p:spPr>
          <a:xfrm>
            <a:off x="1737360" y="1280160"/>
            <a:ext cx="869873" cy="548640"/>
          </a:xfrm>
          <a:prstGeom prst="rect">
            <a:avLst/>
          </a:prstGeom>
          <a:solidFill>
            <a:srgbClr val="7A8A96"/>
          </a:solidFill>
          <a:ln w="12700">
            <a:solidFill>
              <a:srgbClr val="7A8A96"/>
            </a:solidFill>
            <a:prstDash val="solid"/>
          </a:ln>
        </p:spPr>
      </p:sp>
      <p:sp>
        <p:nvSpPr>
          <p:cNvPr id="6" name="cell-text"/>
          <p:cNvSpPr txBox="1"/>
          <p:nvPr/>
        </p:nvSpPr>
        <p:spPr>
          <a:xfrm>
            <a:off x="1737360" y="1280160"/>
            <a:ext cx="869873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system</a:t>
            </a:r>
            <a:endParaRPr lang="en-US" sz="1100" dirty="0"/>
          </a:p>
        </p:txBody>
      </p:sp>
      <p:sp>
        <p:nvSpPr>
          <p:cNvPr id="7" name="cell"/>
          <p:cNvSpPr/>
          <p:nvPr/>
        </p:nvSpPr>
        <p:spPr>
          <a:xfrm>
            <a:off x="2643809" y="1280160"/>
            <a:ext cx="1474172" cy="548640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8" name="cell-text"/>
          <p:cNvSpPr txBox="1"/>
          <p:nvPr/>
        </p:nvSpPr>
        <p:spPr>
          <a:xfrm>
            <a:off x="2643809" y="1280160"/>
            <a:ext cx="14741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1: "no racist"</a:t>
            </a:r>
            <a:endParaRPr lang="en-US" sz="1100" dirty="0"/>
          </a:p>
        </p:txBody>
      </p:sp>
      <p:sp>
        <p:nvSpPr>
          <p:cNvPr id="9" name="cell"/>
          <p:cNvSpPr/>
          <p:nvPr/>
        </p:nvSpPr>
        <p:spPr>
          <a:xfrm>
            <a:off x="4154557" y="1280160"/>
            <a:ext cx="1474172" cy="5486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cell-text"/>
          <p:cNvSpPr txBox="1"/>
          <p:nvPr/>
        </p:nvSpPr>
        <p:spPr>
          <a:xfrm>
            <a:off x="4154557" y="1280160"/>
            <a:ext cx="14741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2</a:t>
            </a:r>
            <a:endParaRPr lang="en-US" sz="1100" dirty="0"/>
          </a:p>
        </p:txBody>
      </p:sp>
      <p:sp>
        <p:nvSpPr>
          <p:cNvPr id="11" name="cell"/>
          <p:cNvSpPr/>
          <p:nvPr/>
        </p:nvSpPr>
        <p:spPr>
          <a:xfrm>
            <a:off x="5665304" y="1280160"/>
            <a:ext cx="1474172" cy="548640"/>
          </a:xfrm>
          <a:prstGeom prst="rect">
            <a:avLst/>
          </a:prstGeom>
          <a:solidFill>
            <a:srgbClr val="8A4FB0"/>
          </a:solidFill>
          <a:ln w="12700">
            <a:solidFill>
              <a:srgbClr val="8A4FB0"/>
            </a:solidFill>
            <a:prstDash val="solid"/>
          </a:ln>
        </p:spPr>
      </p:sp>
      <p:sp>
        <p:nvSpPr>
          <p:cNvPr id="12" name="cell-text"/>
          <p:cNvSpPr txBox="1"/>
          <p:nvPr/>
        </p:nvSpPr>
        <p:spPr>
          <a:xfrm>
            <a:off x="5665304" y="1280160"/>
            <a:ext cx="14741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3</a:t>
            </a:r>
            <a:endParaRPr lang="en-US" sz="1100" dirty="0"/>
          </a:p>
        </p:txBody>
      </p:sp>
      <p:sp>
        <p:nvSpPr>
          <p:cNvPr id="13" name="cell"/>
          <p:cNvSpPr/>
          <p:nvPr/>
        </p:nvSpPr>
        <p:spPr>
          <a:xfrm>
            <a:off x="7176052" y="1280160"/>
            <a:ext cx="1474172" cy="548640"/>
          </a:xfrm>
          <a:prstGeom prst="rect">
            <a:avLst/>
          </a:prstGeom>
          <a:solidFill>
            <a:srgbClr val="B4561A"/>
          </a:solidFill>
          <a:ln w="12700">
            <a:solidFill>
              <a:srgbClr val="B4561A"/>
            </a:solidFill>
            <a:prstDash val="solid"/>
          </a:ln>
        </p:spPr>
      </p:sp>
      <p:sp>
        <p:nvSpPr>
          <p:cNvPr id="14" name="cell-text"/>
          <p:cNvSpPr txBox="1"/>
          <p:nvPr/>
        </p:nvSpPr>
        <p:spPr>
          <a:xfrm>
            <a:off x="7176052" y="1280160"/>
            <a:ext cx="1474172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4</a:t>
            </a:r>
            <a:endParaRPr lang="en-US" sz="1100" dirty="0"/>
          </a:p>
        </p:txBody>
      </p:sp>
      <p:sp>
        <p:nvSpPr>
          <p:cNvPr id="15" name="bar-label"/>
          <p:cNvSpPr txBox="1"/>
          <p:nvPr/>
        </p:nvSpPr>
        <p:spPr>
          <a:xfrm>
            <a:off x="45720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trim</a:t>
            </a:r>
            <a:endParaRPr lang="en-US" sz="1400" dirty="0"/>
          </a:p>
        </p:txBody>
      </p:sp>
      <p:sp>
        <p:nvSpPr>
          <p:cNvPr id="16" name="cell"/>
          <p:cNvSpPr/>
          <p:nvPr/>
        </p:nvSpPr>
        <p:spPr>
          <a:xfrm>
            <a:off x="1737360" y="2011680"/>
            <a:ext cx="708007" cy="548640"/>
          </a:xfrm>
          <a:prstGeom prst="rect">
            <a:avLst/>
          </a:prstGeom>
          <a:solidFill>
            <a:srgbClr val="7A8A96"/>
          </a:solidFill>
          <a:ln w="12700">
            <a:solidFill>
              <a:srgbClr val="7A8A96"/>
            </a:solidFill>
            <a:prstDash val="solid"/>
          </a:ln>
        </p:spPr>
      </p:sp>
      <p:sp>
        <p:nvSpPr>
          <p:cNvPr id="17" name="cell-text"/>
          <p:cNvSpPr txBox="1"/>
          <p:nvPr/>
        </p:nvSpPr>
        <p:spPr>
          <a:xfrm>
            <a:off x="1737360" y="2011680"/>
            <a:ext cx="708007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system</a:t>
            </a:r>
            <a:endParaRPr lang="en-US" sz="1100" dirty="0"/>
          </a:p>
        </p:txBody>
      </p:sp>
      <p:sp>
        <p:nvSpPr>
          <p:cNvPr id="18" name="cell"/>
          <p:cNvSpPr/>
          <p:nvPr/>
        </p:nvSpPr>
        <p:spPr>
          <a:xfrm>
            <a:off x="2481943" y="2011680"/>
            <a:ext cx="1204395" cy="548640"/>
          </a:xfrm>
          <a:prstGeom prst="rect">
            <a:avLst/>
          </a:prstGeom>
          <a:solidFill>
            <a:srgbClr val="D8E0E5"/>
          </a:solidFill>
          <a:ln w="12700">
            <a:solidFill>
              <a:srgbClr val="D8E0E5"/>
            </a:solidFill>
            <a:prstDash val="solid"/>
          </a:ln>
        </p:spPr>
      </p:sp>
      <p:sp>
        <p:nvSpPr>
          <p:cNvPr id="19" name="cell-text"/>
          <p:cNvSpPr txBox="1"/>
          <p:nvPr/>
        </p:nvSpPr>
        <p:spPr>
          <a:xfrm>
            <a:off x="2481943" y="2011680"/>
            <a:ext cx="12043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8"/>
                </a:solidFill>
              </a:rPr>
              <a:t>dropped</a:t>
            </a:r>
            <a:endParaRPr lang="en-US" sz="1100" dirty="0"/>
          </a:p>
        </p:txBody>
      </p:sp>
      <p:sp>
        <p:nvSpPr>
          <p:cNvPr id="20" name="cell"/>
          <p:cNvSpPr/>
          <p:nvPr/>
        </p:nvSpPr>
        <p:spPr>
          <a:xfrm>
            <a:off x="3722914" y="2011680"/>
            <a:ext cx="1204395" cy="5486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cell-text"/>
          <p:cNvSpPr txBox="1"/>
          <p:nvPr/>
        </p:nvSpPr>
        <p:spPr>
          <a:xfrm>
            <a:off x="3722914" y="2011680"/>
            <a:ext cx="12043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2</a:t>
            </a:r>
            <a:endParaRPr lang="en-US" sz="1100" dirty="0"/>
          </a:p>
        </p:txBody>
      </p:sp>
      <p:sp>
        <p:nvSpPr>
          <p:cNvPr id="22" name="cell"/>
          <p:cNvSpPr/>
          <p:nvPr/>
        </p:nvSpPr>
        <p:spPr>
          <a:xfrm>
            <a:off x="4963886" y="2011680"/>
            <a:ext cx="1204395" cy="548640"/>
          </a:xfrm>
          <a:prstGeom prst="rect">
            <a:avLst/>
          </a:prstGeom>
          <a:solidFill>
            <a:srgbClr val="8A4FB0"/>
          </a:solidFill>
          <a:ln w="12700">
            <a:solidFill>
              <a:srgbClr val="8A4FB0"/>
            </a:solidFill>
            <a:prstDash val="solid"/>
          </a:ln>
        </p:spPr>
      </p:sp>
      <p:sp>
        <p:nvSpPr>
          <p:cNvPr id="23" name="cell-text"/>
          <p:cNvSpPr txBox="1"/>
          <p:nvPr/>
        </p:nvSpPr>
        <p:spPr>
          <a:xfrm>
            <a:off x="4963886" y="2011680"/>
            <a:ext cx="12043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3</a:t>
            </a:r>
            <a:endParaRPr lang="en-US" sz="1100" dirty="0"/>
          </a:p>
        </p:txBody>
      </p:sp>
      <p:sp>
        <p:nvSpPr>
          <p:cNvPr id="24" name="cell"/>
          <p:cNvSpPr/>
          <p:nvPr/>
        </p:nvSpPr>
        <p:spPr>
          <a:xfrm>
            <a:off x="6204857" y="2011680"/>
            <a:ext cx="1204395" cy="548640"/>
          </a:xfrm>
          <a:prstGeom prst="rect">
            <a:avLst/>
          </a:prstGeom>
          <a:solidFill>
            <a:srgbClr val="B4561A"/>
          </a:solidFill>
          <a:ln w="12700">
            <a:solidFill>
              <a:srgbClr val="B4561A"/>
            </a:solidFill>
            <a:prstDash val="solid"/>
          </a:ln>
        </p:spPr>
      </p:sp>
      <p:sp>
        <p:nvSpPr>
          <p:cNvPr id="25" name="cell-text"/>
          <p:cNvSpPr txBox="1"/>
          <p:nvPr/>
        </p:nvSpPr>
        <p:spPr>
          <a:xfrm>
            <a:off x="6204857" y="2011680"/>
            <a:ext cx="12043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4</a:t>
            </a:r>
            <a:endParaRPr lang="en-US" sz="1100" dirty="0"/>
          </a:p>
        </p:txBody>
      </p:sp>
      <p:sp>
        <p:nvSpPr>
          <p:cNvPr id="26" name="cell"/>
          <p:cNvSpPr/>
          <p:nvPr/>
        </p:nvSpPr>
        <p:spPr>
          <a:xfrm>
            <a:off x="7445829" y="2011680"/>
            <a:ext cx="1204395" cy="548640"/>
          </a:xfrm>
          <a:prstGeom prst="rect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27" name="cell-text"/>
          <p:cNvSpPr txBox="1"/>
          <p:nvPr/>
        </p:nvSpPr>
        <p:spPr>
          <a:xfrm>
            <a:off x="7445829" y="2011680"/>
            <a:ext cx="1204395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turn 5</a:t>
            </a:r>
            <a:endParaRPr lang="en-US" sz="1100" dirty="0"/>
          </a:p>
        </p:txBody>
      </p:sp>
      <p:sp>
        <p:nvSpPr>
          <p:cNvPr id="28" name="bullets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Trim fires at 10 turns, or when the last prompt used over 3/4 of num_ctx (6144 tokens)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drops whole turns only, so a tool result never loses its call</a:t>
            </a:r>
            <a:endParaRPr lang="en-US" sz="1500" dirty="0"/>
          </a:p>
        </p:txBody>
      </p:sp>
      <p:sp>
        <p:nvSpPr>
          <p:cNvPr id="29" name="callout-bg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30" name="callout"/>
          <p:cNvSpPr txBox="1"/>
          <p:nvPr/>
        </p:nvSpPr>
        <p:spPr>
          <a:xfrm>
            <a:off x="594360" y="3913632"/>
            <a:ext cx="7955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61A"/>
                </a:solidFill>
              </a:rPr>
              <a:t>THE TRADE-OFF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14212B"/>
                </a:solidFill>
              </a:rPr>
              <a:t>Real systems summarize old turns or pin standing instructions in the system prompt.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One user message, end to end</a:t>
            </a:r>
            <a:endParaRPr lang="en-US" sz="3000" dirty="0"/>
          </a:p>
        </p:txBody>
      </p:sp>
      <p:sp>
        <p:nvSpPr>
          <p:cNvPr id="4" name="bullets"/>
          <p:cNvSpPr txBox="1"/>
          <p:nvPr/>
        </p:nvSpPr>
        <p:spPr>
          <a:xfrm>
            <a:off x="457200" y="12801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trim() first, then add the user message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Send system prompt plus history with both tools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any tool calls; results go into history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Repeat up to 6 steps, then return the reply</a:t>
            </a:r>
            <a:endParaRPr lang="en-US" sz="1600" dirty="0"/>
          </a:p>
        </p:txBody>
      </p:sp>
      <p:sp>
        <p:nvSpPr>
          <p:cNvPr id="5" name="try"/>
          <p:cNvSpPr txBox="1"/>
          <p:nvPr/>
        </p:nvSpPr>
        <p:spPr>
          <a:xfrm>
            <a:off x="45720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7A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joke about dogs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another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that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now on nothing political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/reset</a:t>
            </a:r>
            <a:endParaRPr lang="en-US" sz="1300" dirty="0"/>
          </a:p>
        </p:txBody>
      </p:sp>
      <p:pic>
        <p:nvPicPr>
          <p:cNvPr id="6" name="Stage 3 flow" descr="Stage 3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3010" y="1005840"/>
            <a:ext cx="3015739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3b: the same agent in langchaingo</a:t>
            </a:r>
            <a:endParaRPr lang="en-US" sz="3000" dirty="0"/>
          </a:p>
        </p:txBody>
      </p:sp>
      <p:graphicFrame>
        <p:nvGraphicFramePr>
          <p:cNvPr id="13" name="framewor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9812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3291840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Hand-written in stage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Framework concept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we found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Ollama HTTP structs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openai client on /v1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Native client drops tools; /v1 has no num_ctx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Tool{Def, Run} registry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tools.Tool, one string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Typed schema becomes prose; JSON inside a string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for step loop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agents.Executor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A tool Go error aborts the run; return text instead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history + trim()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Window buffer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Text only, flattened into the system prompt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-trace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Callbacks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2B"/>
                          </a:solidFill>
                        </a:rPr>
                        <a:t>Works; token counts hide in GenerationInfo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8"/>
                </a:solidFill>
              </a:rPr>
              <a:t>Built. A framework removes code, not decisions: stage 3 and 3b are both about 275 lines.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4: tools behind an MCP server</a:t>
            </a:r>
            <a:endParaRPr lang="en-US" sz="3000" dirty="0"/>
          </a:p>
        </p:txBody>
      </p:sp>
      <p:sp>
        <p:nvSpPr>
          <p:cNvPr id="5" name="bullets"/>
          <p:cNvSpPr txBox="1"/>
          <p:nvPr/>
        </p:nvSpPr>
        <p:spPr>
          <a:xfrm>
            <a:off x="5120640" y="12801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Hand-written JSON-RPC over stdio, about 160 lines, no SDK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initialize, tools/list, tools/call; notifications get no reply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stdout is the protocol, so -trace logs to stderr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failing tool returns isError, not a protocol error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claude mcp add jokes -- go run ./cmd/jokes-mcp</a:t>
            </a:r>
            <a:endParaRPr lang="en-US" sz="1500" dirty="0"/>
          </a:p>
        </p:txBody>
      </p:sp>
      <p:sp>
        <p:nvSpPr>
          <p:cNvPr id="6" name="caption"/>
          <p:cNvSpPr txBox="1"/>
          <p:nvPr/>
        </p:nvSpPr>
        <p:spPr>
          <a:xfrm>
            <a:off x="457200" y="4000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</a:rPr>
              <a:t>The client owns the model and the loop; the server only runs tools.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80160"/>
            <a:ext cx="4480000" cy="26912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5: evals</a:t>
            </a:r>
            <a:endParaRPr lang="en-US" sz="3000" dirty="0"/>
          </a:p>
        </p:txBody>
      </p:sp>
      <p:sp>
        <p:nvSpPr>
          <p:cNvPr id="5" name="bullets"/>
          <p:cNvSpPr txBox="1"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request cases and 6 conversation cases, with plain Go checks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Checks read typed requests and tool calls, not reply prose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0: 7 of 13.  Stage 1 (qwen3.5:9b-mlx): 8 of 13.  Stage 6 agent: 5 of 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Known weaknesses are cases on purpose: clean, no-unasked-explanations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run each; use -n 3 for pass rates</a:t>
            </a:r>
            <a:endParaRPr lang="en-US" sz="1500" dirty="0"/>
          </a:p>
        </p:txBody>
      </p:sp>
      <p:sp>
        <p:nvSpPr>
          <p:cNvPr id="6" name="caption"/>
          <p:cNvSpPr txBox="1"/>
          <p:nvPr/>
        </p:nvSpPr>
        <p:spPr>
          <a:xfrm>
            <a:off x="45720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</a:rPr>
              <a:t>make eval  ·  go run ./cmd/jokes-eval -stage 1 -n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Stage 6: one loop, any provider</a:t>
            </a:r>
            <a:endParaRPr lang="en-US" sz="3000" dirty="0"/>
          </a:p>
        </p:txBody>
      </p:sp>
      <p:sp>
        <p:nvSpPr>
          <p:cNvPr id="5" name="bullets"/>
          <p:cNvSpPr txBox="1"/>
          <p:nvPr/>
        </p:nvSpPr>
        <p:spPr>
          <a:xfrm>
            <a:off x="5120640" y="12801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provider.Provider: system, messages, tools in; one message 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Ollama, OpenAI and Claude adapters in plain HTTP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OpenAI args are a JSON string; Claude wants tool results in a user message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Tools are stage 4's; the repeat check moved into the loop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OpenAI and Claude tested on fakes only, not yet live</a:t>
            </a:r>
            <a:endParaRPr lang="en-US" sz="1500" dirty="0"/>
          </a:p>
        </p:txBody>
      </p:sp>
      <p:sp>
        <p:nvSpPr>
          <p:cNvPr id="6" name="caption"/>
          <p:cNvSpPr txBox="1"/>
          <p:nvPr/>
        </p:nvSpPr>
        <p:spPr>
          <a:xfrm>
            <a:off x="457200" y="3000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8"/>
                </a:solidFill>
              </a:rPr>
              <a:t>-stage 6 -provider ollama | openai | claude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0000"/>
            <a:ext cx="4480000" cy="15022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</a:rPr>
              <a:t>Reuse it: swap the domain, keep the skeleton</a:t>
            </a:r>
            <a:endParaRPr lang="en-US" sz="3000" dirty="0"/>
          </a:p>
        </p:txBody>
      </p:sp>
      <p:graphicFrame>
        <p:nvGraphicFramePr>
          <p:cNvPr id="15" name="reus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agent-lab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your project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Support-ticket bot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jokeapi.Request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Typed request struct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TicketQuery{Status, Priority}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Normalize()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Validate model output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Reject unknown assignees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get_joke tool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One tool per API capability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search_tickets, add_comment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"No matching joke"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Errors the model can act 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"0 tickets. Widen the dates."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Blacklist never loosened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Hard constraints in code too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Read-only, one project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seenJokes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Exact state in code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Tickets already shown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trim()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Context policy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</a:rPr>
                        <a:t>Pin the user's project and 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to take with you</a:t>
            </a:r>
            <a:endParaRPr lang="en-US" sz="3400" dirty="0"/>
          </a:p>
        </p:txBody>
      </p:sp>
      <p:sp>
        <p:nvSpPr>
          <p:cNvPr id="3" name="habit-bg"/>
          <p:cNvSpPr/>
          <p:nvPr/>
        </p:nvSpPr>
        <p:spPr>
          <a:xfrm>
            <a:off x="548640" y="13716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4" name="habit"/>
          <p:cNvSpPr txBox="1"/>
          <p:nvPr/>
        </p:nvSpPr>
        <p:spPr>
          <a:xfrm>
            <a:off x="6858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Typed boundaries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Models write structs, not strings.</a:t>
            </a:r>
            <a:endParaRPr lang="en-US" sz="1600" dirty="0"/>
          </a:p>
        </p:txBody>
      </p:sp>
      <p:sp>
        <p:nvSpPr>
          <p:cNvPr id="5" name="habit-bg"/>
          <p:cNvSpPr/>
          <p:nvPr/>
        </p:nvSpPr>
        <p:spPr>
          <a:xfrm>
            <a:off x="3291840" y="13716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6" name="habit"/>
          <p:cNvSpPr txBox="1"/>
          <p:nvPr/>
        </p:nvSpPr>
        <p:spPr>
          <a:xfrm>
            <a:off x="34290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Errors go to the model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Return failures as results.</a:t>
            </a:r>
            <a:endParaRPr lang="en-US" sz="1600" dirty="0"/>
          </a:p>
        </p:txBody>
      </p:sp>
      <p:sp>
        <p:nvSpPr>
          <p:cNvPr id="7" name="habit-bg"/>
          <p:cNvSpPr/>
          <p:nvPr/>
        </p:nvSpPr>
        <p:spPr>
          <a:xfrm>
            <a:off x="6035040" y="13716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8" name="habit"/>
          <p:cNvSpPr txBox="1"/>
          <p:nvPr/>
        </p:nvSpPr>
        <p:spPr>
          <a:xfrm>
            <a:off x="6172200" y="1463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Cap every loop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Steps, retries and output.</a:t>
            </a:r>
            <a:endParaRPr lang="en-US" sz="1600" dirty="0"/>
          </a:p>
        </p:txBody>
      </p:sp>
      <p:sp>
        <p:nvSpPr>
          <p:cNvPr id="9" name="habit-bg"/>
          <p:cNvSpPr/>
          <p:nvPr/>
        </p:nvSpPr>
        <p:spPr>
          <a:xfrm>
            <a:off x="5486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10" name="habit"/>
          <p:cNvSpPr txBox="1"/>
          <p:nvPr/>
        </p:nvSpPr>
        <p:spPr>
          <a:xfrm>
            <a:off x="68580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Trace everything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Read the prompts and results.</a:t>
            </a:r>
            <a:endParaRPr lang="en-US" sz="1600" dirty="0"/>
          </a:p>
        </p:txBody>
      </p:sp>
      <p:sp>
        <p:nvSpPr>
          <p:cNvPr id="11" name="habit-bg"/>
          <p:cNvSpPr/>
          <p:nvPr/>
        </p:nvSpPr>
        <p:spPr>
          <a:xfrm>
            <a:off x="32918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12" name="habit"/>
          <p:cNvSpPr txBox="1"/>
          <p:nvPr/>
        </p:nvSpPr>
        <p:spPr>
          <a:xfrm>
            <a:off x="342900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Fake the model in tests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Script a conversation.</a:t>
            </a:r>
            <a:endParaRPr lang="en-US" sz="1600" dirty="0"/>
          </a:p>
        </p:txBody>
      </p:sp>
      <p:sp>
        <p:nvSpPr>
          <p:cNvPr id="13" name="habit-bg"/>
          <p:cNvSpPr/>
          <p:nvPr/>
        </p:nvSpPr>
        <p:spPr>
          <a:xfrm>
            <a:off x="6035040" y="27432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4505A"/>
          </a:solidFill>
          <a:ln w="12700">
            <a:solidFill>
              <a:srgbClr val="14505A"/>
            </a:solidFill>
            <a:prstDash val="solid"/>
          </a:ln>
        </p:spPr>
      </p:sp>
      <p:sp>
        <p:nvSpPr>
          <p:cNvPr id="14" name="habit"/>
          <p:cNvSpPr txBox="1"/>
          <p:nvPr/>
        </p:nvSpPr>
        <p:spPr>
          <a:xfrm>
            <a:off x="6172200" y="28346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C9C0"/>
                </a:solidFill>
              </a:rPr>
              <a:t>Measure with evals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Turn failures into cases.</a:t>
            </a:r>
            <a:endParaRPr lang="en-US" sz="1600" dirty="0"/>
          </a:p>
        </p:txBody>
      </p:sp>
      <p:sp>
        <p:nvSpPr>
          <p:cNvPr id="15" name="cmd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 ·   make eval   ·   go run ./cmd/jokes -stage 3 -trace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C9C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Lab">
  <a:themeElements>
    <a:clrScheme name="AgentLab">
      <a:dk1>
        <a:srgbClr val="14212B"/>
      </a:dk1>
      <a:lt1>
        <a:srgbClr val="FFFFFF"/>
      </a:lt1>
      <a:dk2>
        <a:srgbClr val="0B3B3C"/>
      </a:dk2>
      <a:lt2>
        <a:srgbClr val="EEF3F4"/>
      </a:lt2>
      <a:accent1>
        <a:srgbClr val="0B7A75"/>
      </a:accent1>
      <a:accent2>
        <a:srgbClr val="2F6FB5"/>
      </a:accent2>
      <a:accent3>
        <a:srgbClr val="8A4FB0"/>
      </a:accent3>
      <a:accent4>
        <a:srgbClr val="B4561A"/>
      </a:accent4>
      <a:accent5>
        <a:srgbClr val="7A8A96"/>
      </a:accent5>
      <a:accent6>
        <a:srgbClr val="4CC9C0"/>
      </a:accent6>
      <a:hlink>
        <a:srgbClr val="0B7A75"/>
      </a:hlink>
      <a:folHlink>
        <a:srgbClr val="8A4FB0"/>
      </a:folHlink>
    </a:clrScheme>
    <a:fontScheme name="Agent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Lab: build an agent from scratch</dc:title>
  <dc:subject>PptxGenJS Presentation</dc:subject>
  <dc:creator>PptxGenJS</dc:creator>
  <cp:lastModifiedBy>PptxGenJS</cp:lastModifiedBy>
  <cp:revision>1</cp:revision>
  <dcterms:created xsi:type="dcterms:W3CDTF">2026-10-06T15:28:01Z</dcterms:created>
  <dcterms:modified xsi:type="dcterms:W3CDTF">2026-10-06T15:28:01Z</dcterms:modified>
</cp:coreProperties>
</file>