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2ea3d4c8-040c-f307-5699-e8ca45fe050a}">
          <p14:sldIdLst>
            <p14:sldId id="256"/>
            <p14:sldId id="257"/>
            <p14:sldId id="258"/>
            <p14:sldId id="259"/>
          </p14:sldIdLst>
        </p14:section>
        <p14:section name="Stages 0 to 3" id="{7cc68873-1bb3-4d61-ab82-7a2e9d7baf37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Stages 3b to 6" id="{f65ebac6-41d6-389c-2478-15b87b176f9b}">
          <p14:sldIdLst>
            <p14:sldId id="267"/>
            <p14:sldId id="268"/>
            <p14:sldId id="269"/>
            <p14:sldId id="270"/>
            <p14:sldId id="271"/>
          </p14:sldIdLst>
        </p14:section>
        <p14:section name="Beyond jokes" id="{ecc248ec-6389-fc0f-2003-d0c8fe3825eb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is built and tested offline. Stage 6 OpenAI and Claude adapters have not run against live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strings.Contains for categories, type and no-flag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LLM call constrained by a JSON schema. Ollama turns the schema into a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Frameworks are conveniences over this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Cubs, then Chicago, then no filter. The racist blacklist is never loosened.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has no memory. Memory is re-sending the transcript.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with -ctx 2048 to force trimming and watch a restriction vanish.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loop as stage 2, plus where history lives and the trim step in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framework removes code, not decisions. Stage 3 and 3b are both about 275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separates what can be done from who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runs on one day. Use -n 3 for pass rates. Stage 0 is exact.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and Claude adapters are tested on fakes only, not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domain is a support-ticket bot.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3B3C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11887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agent from scratch</a:t>
            </a:r>
            <a:endParaRPr lang="en-US" sz="4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224028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One idea at a time, from keyword matching to tool-calling agents, MCP, evals and provider switching, in a project that fetches jokes.</a:t>
            </a:r>
            <a:endParaRPr lang="en-US" sz="2000" dirty="0"/>
          </a:p>
        </p:txBody>
      </p:sp>
      <p:sp>
        <p:nvSpPr>
          <p:cNvPr id="4" name="footer-line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C9C0"/>
                </a:solidFill>
              </a:rPr>
              <a:t>agent-lab  ·  Go  ·  Ollama  ·  all stages 0 to 6 built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Eight stages, one dial: who is in charge?</a:t>
            </a:r>
            <a:endParaRPr lang="en-US" sz="3000" dirty="0"/>
          </a:p>
        </p:txBody>
      </p:sp>
      <p:sp>
        <p:nvSpPr>
          <p:cNvPr id="4" name="stage-0"/>
          <p:cNvSpPr/>
          <p:nvPr/>
        </p:nvSpPr>
        <p:spPr>
          <a:xfrm>
            <a:off x="457200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7A8A96"/>
          </a:solidFill>
          <a:ln w="12700">
            <a:solidFill>
              <a:srgbClr val="7A8A96"/>
            </a:solidFill>
            <a:prstDash val="solid"/>
          </a:ln>
        </p:spPr>
      </p:sp>
      <p:sp>
        <p:nvSpPr>
          <p:cNvPr id="5" name="stage-text-0"/>
          <p:cNvSpPr txBox="1"/>
          <p:nvPr/>
        </p:nvSpPr>
        <p:spPr>
          <a:xfrm>
            <a:off x="457200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Keywords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no LLM</a:t>
            </a:r>
            <a:endParaRPr lang="en-US" sz="2400" dirty="0"/>
          </a:p>
        </p:txBody>
      </p:sp>
      <p:sp>
        <p:nvSpPr>
          <p:cNvPr id="6" name="stage-1"/>
          <p:cNvSpPr/>
          <p:nvPr/>
        </p:nvSpPr>
        <p:spPr>
          <a:xfrm>
            <a:off x="1490472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7" name="stage-text-1"/>
          <p:cNvSpPr txBox="1"/>
          <p:nvPr/>
        </p:nvSpPr>
        <p:spPr>
          <a:xfrm>
            <a:off x="1490472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Structured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LLM parses</a:t>
            </a:r>
            <a:endParaRPr lang="en-US" sz="2400" dirty="0"/>
          </a:p>
        </p:txBody>
      </p:sp>
      <p:sp>
        <p:nvSpPr>
          <p:cNvPr id="8" name="stage-2"/>
          <p:cNvSpPr/>
          <p:nvPr/>
        </p:nvSpPr>
        <p:spPr>
          <a:xfrm>
            <a:off x="2523744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9" name="stage-text-2"/>
          <p:cNvSpPr txBox="1"/>
          <p:nvPr/>
        </p:nvSpPr>
        <p:spPr>
          <a:xfrm>
            <a:off x="2523744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Tool loop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LLM decides</a:t>
            </a:r>
            <a:endParaRPr lang="en-US" sz="2400" dirty="0"/>
          </a:p>
        </p:txBody>
      </p:sp>
      <p:sp>
        <p:nvSpPr>
          <p:cNvPr id="10" name="stage-3"/>
          <p:cNvSpPr/>
          <p:nvPr/>
        </p:nvSpPr>
        <p:spPr>
          <a:xfrm>
            <a:off x="3557016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8A4FB0"/>
          </a:solidFill>
          <a:ln w="12700">
            <a:solidFill>
              <a:srgbClr val="8A4FB0"/>
            </a:solidFill>
            <a:prstDash val="solid"/>
          </a:ln>
        </p:spPr>
      </p:sp>
      <p:sp>
        <p:nvSpPr>
          <p:cNvPr id="11" name="stage-text-3"/>
          <p:cNvSpPr txBox="1"/>
          <p:nvPr/>
        </p:nvSpPr>
        <p:spPr>
          <a:xfrm>
            <a:off x="3557016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Tools + memory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remembers</a:t>
            </a:r>
            <a:endParaRPr lang="en-US" sz="2400" dirty="0"/>
          </a:p>
        </p:txBody>
      </p:sp>
      <p:sp>
        <p:nvSpPr>
          <p:cNvPr id="12" name="stage-3b"/>
          <p:cNvSpPr/>
          <p:nvPr/>
        </p:nvSpPr>
        <p:spPr>
          <a:xfrm>
            <a:off x="4590288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8A4FB0"/>
          </a:solidFill>
          <a:ln w="12700">
            <a:solidFill>
              <a:srgbClr val="8A4FB0"/>
            </a:solidFill>
            <a:prstDash val="solid"/>
          </a:ln>
        </p:spPr>
      </p:sp>
      <p:sp>
        <p:nvSpPr>
          <p:cNvPr id="13" name="stage-text-3b"/>
          <p:cNvSpPr txBox="1"/>
          <p:nvPr/>
        </p:nvSpPr>
        <p:spPr>
          <a:xfrm>
            <a:off x="4590288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langchaingo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framework</a:t>
            </a:r>
            <a:endParaRPr lang="en-US" sz="2400" dirty="0"/>
          </a:p>
        </p:txBody>
      </p:sp>
      <p:sp>
        <p:nvSpPr>
          <p:cNvPr id="14" name="stage-4"/>
          <p:cNvSpPr/>
          <p:nvPr/>
        </p:nvSpPr>
        <p:spPr>
          <a:xfrm>
            <a:off x="5623560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B4561A"/>
          </a:solidFill>
          <a:ln w="12700">
            <a:solidFill>
              <a:srgbClr val="B4561A"/>
            </a:solidFill>
            <a:prstDash val="solid"/>
          </a:ln>
        </p:spPr>
      </p:sp>
      <p:sp>
        <p:nvSpPr>
          <p:cNvPr id="15" name="stage-text-4"/>
          <p:cNvSpPr txBox="1"/>
          <p:nvPr/>
        </p:nvSpPr>
        <p:spPr>
          <a:xfrm>
            <a:off x="5623560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MCP server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shared tools</a:t>
            </a:r>
            <a:endParaRPr lang="en-US" sz="2400" dirty="0"/>
          </a:p>
        </p:txBody>
      </p:sp>
      <p:sp>
        <p:nvSpPr>
          <p:cNvPr id="16" name="stage-5"/>
          <p:cNvSpPr/>
          <p:nvPr/>
        </p:nvSpPr>
        <p:spPr>
          <a:xfrm>
            <a:off x="6656832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3F7D2A"/>
          </a:solidFill>
          <a:ln w="12700">
            <a:solidFill>
              <a:srgbClr val="3F7D2A"/>
            </a:solidFill>
            <a:prstDash val="solid"/>
          </a:ln>
        </p:spPr>
      </p:sp>
      <p:sp>
        <p:nvSpPr>
          <p:cNvPr id="17" name="stage-text-5"/>
          <p:cNvSpPr txBox="1"/>
          <p:nvPr/>
        </p:nvSpPr>
        <p:spPr>
          <a:xfrm>
            <a:off x="6656832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Evals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measure</a:t>
            </a:r>
            <a:endParaRPr lang="en-US" sz="2400" dirty="0"/>
          </a:p>
        </p:txBody>
      </p:sp>
      <p:sp>
        <p:nvSpPr>
          <p:cNvPr id="18" name="stage-6"/>
          <p:cNvSpPr/>
          <p:nvPr/>
        </p:nvSpPr>
        <p:spPr>
          <a:xfrm>
            <a:off x="7690104" y="1280160"/>
            <a:ext cx="960120" cy="1371600"/>
          </a:xfrm>
          <a:prstGeom prst="roundRect">
            <a:avLst>
              <a:gd name="adj" fmla="val 7619"/>
            </a:avLst>
          </a:prstGeom>
          <a:solidFill>
            <a:srgbClr val="B02F6B"/>
          </a:solidFill>
          <a:ln w="12700">
            <a:solidFill>
              <a:srgbClr val="B02F6B"/>
            </a:solidFill>
            <a:prstDash val="solid"/>
          </a:ln>
        </p:spPr>
      </p:sp>
      <p:sp>
        <p:nvSpPr>
          <p:cNvPr id="19" name="stage-text-6"/>
          <p:cNvSpPr txBox="1"/>
          <p:nvPr/>
        </p:nvSpPr>
        <p:spPr>
          <a:xfrm>
            <a:off x="7690104" y="1280160"/>
            <a:ext cx="96012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Providers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any model</a:t>
            </a:r>
            <a:endParaRPr lang="en-US" sz="2400" dirty="0"/>
          </a:p>
        </p:txBody>
      </p:sp>
      <p:sp>
        <p:nvSpPr>
          <p:cNvPr id="20" name="lede"/>
          <p:cNvSpPr txBox="1"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Each stage hands a little more control from your code to the model, then measures the result.</a:t>
            </a:r>
            <a:endParaRPr lang="en-US" sz="1800" dirty="0"/>
          </a:p>
        </p:txBody>
      </p:sp>
      <p:sp>
        <p:nvSpPr>
          <p:cNvPr id="21" name="bullets"/>
          <p:cNvSpPr txBox="1"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Tiny domain on purpose: ask for a joke, get one from a real API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Plain HTTP and Go structs, no SDK, so the wire format is visible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API and model is faked in tests; nothing needs the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Who decides at each stage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463040"/>
                <a:gridCol w="1554480"/>
                <a:gridCol w="1188720"/>
                <a:gridCol w="118872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Interprets request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Chooses next 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Retries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Remembers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Picks tools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0 Keywords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your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your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1 Structured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your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2 Tool loop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8A96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3 Multi-tool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3b Framework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framework loop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4 MCP server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client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client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B78"/>
                          </a:solidFill>
                        </a:rPr>
                        <a:t>set by the client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6 Any provider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llout-bg"/>
          <p:cNvSpPr/>
          <p:nvPr/>
        </p:nvSpPr>
        <p:spPr>
          <a:xfrm>
            <a:off x="457200" y="39319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5" name="callout"/>
          <p:cNvSpPr txBox="1"/>
          <p:nvPr/>
        </p:nvSpPr>
        <p:spPr>
          <a:xfrm>
            <a:off x="594360" y="4005072"/>
            <a:ext cx="79552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7A75"/>
                </a:solidFill>
              </a:rPr>
              <a:t>DESIGN RULE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The joke client takes a typed Request, never free text. The model fills a form, your code normalizes it, and only then does anything touch the network.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The shared plumbing</a:t>
            </a:r>
            <a:endParaRPr lang="en-US" sz="3000" dirty="0"/>
          </a:p>
        </p:txBody>
      </p:sp>
      <p:pic>
        <p:nvPicPr>
          <p:cNvPr id="3" name="Plumbing diagram" descr="Plumbing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60443"/>
            <a:ext cx="5120640" cy="2639833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5760720" y="128016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REPL builds one stage with -stage 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Stages reuse the same Ollama, JokeAPI and trace packages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-trace prints every prompt, tool call, result and token count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Memory limits: ctx 8192, output 2048, keep-alive 2m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0: keywords, the baseline to beat</a:t>
            </a:r>
            <a:endParaRPr lang="en-US" sz="3000" dirty="0"/>
          </a:p>
        </p:txBody>
      </p:sp>
      <p:pic>
        <p:nvPicPr>
          <p:cNvPr id="4" name="Stage 0 flow" descr="Stage 0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238" y="1097280"/>
            <a:ext cx="6687524" cy="2194560"/>
          </a:xfrm>
          <a:prstGeom prst="rect">
            <a:avLst/>
          </a:prstGeom>
        </p:spPr>
      </p:pic>
      <p:sp>
        <p:nvSpPr>
          <p:cNvPr id="5" name="callout-bg"/>
          <p:cNvSpPr/>
          <p:nvPr/>
        </p:nvSpPr>
        <p:spPr>
          <a:xfrm>
            <a:off x="457200" y="347472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6" name="callout"/>
          <p:cNvSpPr txBox="1"/>
          <p:nvPr/>
        </p:nvSpPr>
        <p:spPr>
          <a:xfrm>
            <a:off x="594360" y="3547872"/>
            <a:ext cx="3749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7A75"/>
                </a:solidFill>
              </a:rPr>
              <a:t>WHERE IT WORKS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"programming joke", "a two-part pun", "no politics": exact words in, exact filters out.</a:t>
            </a:r>
            <a:endParaRPr lang="en-US" sz="1200" dirty="0"/>
          </a:p>
        </p:txBody>
      </p:sp>
      <p:sp>
        <p:nvSpPr>
          <p:cNvPr id="7" name="callout-bg"/>
          <p:cNvSpPr/>
          <p:nvPr/>
        </p:nvSpPr>
        <p:spPr>
          <a:xfrm>
            <a:off x="4663440" y="347472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8" name="callout"/>
          <p:cNvSpPr txBox="1"/>
          <p:nvPr/>
        </p:nvSpPr>
        <p:spPr>
          <a:xfrm>
            <a:off x="4800600" y="3547872"/>
            <a:ext cx="3749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WHERE IT BREAKS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"keep it family friendly" matches nothing. "clean" blacklists only nsfw.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1: structured output, the model as parser</a:t>
            </a:r>
            <a:endParaRPr lang="en-US" sz="3000" dirty="0"/>
          </a:p>
        </p:txBody>
      </p:sp>
      <p:pic>
        <p:nvPicPr>
          <p:cNvPr id="4" name="Stage 1 sequence" descr="Stage 1 sequ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773" y="1051560"/>
            <a:ext cx="7780454" cy="3108960"/>
          </a:xfrm>
          <a:prstGeom prst="rect">
            <a:avLst/>
          </a:prstGeom>
        </p:spPr>
      </p:pic>
      <p:sp>
        <p:nvSpPr>
          <p:cNvPr id="5" name="takeaway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call with a JSON schema. The model can only emit valid JSON; your code decodes it, runs Normalize() and does the rest. Text in, struct out.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2: the agent is a loop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457200" y="128016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Describe a get_joke tool; the model decides when and how to call 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Assistant message with tool calls goes back into history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Tool errors return as results, so the model can retry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MaxSteps = 6 stops runaway loops</a:t>
            </a:r>
            <a:endParaRPr lang="en-US" sz="1600" dirty="0"/>
          </a:p>
        </p:txBody>
      </p:sp>
      <p:sp>
        <p:nvSpPr>
          <p:cNvPr id="5" name="callout-bg"/>
          <p:cNvSpPr/>
          <p:nvPr/>
        </p:nvSpPr>
        <p:spPr>
          <a:xfrm>
            <a:off x="457200" y="37490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6" name="callout"/>
          <p:cNvSpPr txBox="1"/>
          <p:nvPr/>
        </p:nvSpPr>
        <p:spPr>
          <a:xfrm>
            <a:off x="594360" y="3822192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7A75"/>
                </a:solidFill>
              </a:rPr>
              <a:t>LESSON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An agent is a loop where the model's output can be an action.</a:t>
            </a:r>
            <a:endParaRPr lang="en-US" sz="1200" dirty="0"/>
          </a:p>
        </p:txBody>
      </p:sp>
      <p:pic>
        <p:nvPicPr>
          <p:cNvPr id="7" name="Agent loop flowchart" descr="Agent loop flow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4495" y="1005840"/>
            <a:ext cx="3432770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Retry without writing a retry loop</a:t>
            </a:r>
            <a:endParaRPr lang="en-US" sz="3000" dirty="0"/>
          </a:p>
        </p:txBody>
      </p:sp>
      <p:pic>
        <p:nvPicPr>
          <p:cNvPr id="4" name="Retry sequence" descr="Retry sequ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043"/>
            <a:ext cx="5394960" cy="3658073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6035040" y="1280160"/>
            <a:ext cx="2743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"No matching joke" goes back as a tool result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model shortens the filter and calls again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blacklist stays on through every attempt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It tells the user what it relaxed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3: many tools and memory</a:t>
            </a:r>
            <a:endParaRPr lang="en-US" sz="3000" dirty="0"/>
          </a:p>
        </p:txBody>
      </p:sp>
      <p:pic>
        <p:nvPicPr>
          <p:cNvPr id="4" name="Tool registry" descr="Tool regis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2741" y="1051560"/>
            <a:ext cx="6418518" cy="1920240"/>
          </a:xfrm>
          <a:prstGeom prst="rect">
            <a:avLst/>
          </a:prstGeom>
        </p:spPr>
      </p:pic>
      <p:sp>
        <p:nvSpPr>
          <p:cNvPr id="5" name="callout-bg"/>
          <p:cNvSpPr/>
          <p:nvPr/>
        </p:nvSpPr>
        <p:spPr>
          <a:xfrm>
            <a:off x="45720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6" name="callout"/>
          <p:cNvSpPr txBox="1"/>
          <p:nvPr/>
        </p:nvSpPr>
        <p:spPr>
          <a:xfrm>
            <a:off x="594360" y="3227832"/>
            <a:ext cx="23774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4FB0"/>
                </a:solidFill>
              </a:rPr>
              <a:t>TOOLS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get_joke (JokeAPI) and search_dad_jokes. Descriptions are part of the prompt.</a:t>
            </a:r>
            <a:endParaRPr lang="en-US" sz="1200" dirty="0"/>
          </a:p>
        </p:txBody>
      </p:sp>
      <p:sp>
        <p:nvSpPr>
          <p:cNvPr id="7" name="callout-bg"/>
          <p:cNvSpPr/>
          <p:nvPr/>
        </p:nvSpPr>
        <p:spPr>
          <a:xfrm>
            <a:off x="324612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8" name="callout"/>
          <p:cNvSpPr txBox="1"/>
          <p:nvPr/>
        </p:nvSpPr>
        <p:spPr>
          <a:xfrm>
            <a:off x="3383280" y="3227832"/>
            <a:ext cx="23774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4FB0"/>
                </a:solidFill>
              </a:rPr>
              <a:t>MEMORY IN THE MODEL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The transcript is re-sent each call. Flexible, fuzzy, first to be trimmed.</a:t>
            </a:r>
            <a:endParaRPr lang="en-US" sz="1200" dirty="0"/>
          </a:p>
        </p:txBody>
      </p:sp>
      <p:sp>
        <p:nvSpPr>
          <p:cNvPr id="9" name="callout-bg"/>
          <p:cNvSpPr/>
          <p:nvPr/>
        </p:nvSpPr>
        <p:spPr>
          <a:xfrm>
            <a:off x="603504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0" name="callout"/>
          <p:cNvSpPr txBox="1"/>
          <p:nvPr/>
        </p:nvSpPr>
        <p:spPr>
          <a:xfrm>
            <a:off x="6172200" y="3227832"/>
            <a:ext cx="23774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4FB0"/>
                </a:solidFill>
              </a:rPr>
              <a:t>MEMORY IN CODE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seenJokes tracks told jokes exactly and survives trimming.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Trimming can erase a restriction</a:t>
            </a:r>
            <a:endParaRPr lang="en-US" sz="3000" dirty="0"/>
          </a:p>
        </p:txBody>
      </p:sp>
      <p:sp>
        <p:nvSpPr>
          <p:cNvPr id="4" name="bar-label"/>
          <p:cNvSpPr txBox="1"/>
          <p:nvPr/>
        </p:nvSpPr>
        <p:spPr>
          <a:xfrm>
            <a:off x="457200" y="1280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Before trim</a:t>
            </a:r>
            <a:endParaRPr lang="en-US" sz="1400" dirty="0"/>
          </a:p>
        </p:txBody>
      </p:sp>
      <p:sp>
        <p:nvSpPr>
          <p:cNvPr id="5" name="cell"/>
          <p:cNvSpPr/>
          <p:nvPr/>
        </p:nvSpPr>
        <p:spPr>
          <a:xfrm>
            <a:off x="1737360" y="1280160"/>
            <a:ext cx="869873" cy="548640"/>
          </a:xfrm>
          <a:prstGeom prst="rect">
            <a:avLst/>
          </a:prstGeom>
          <a:solidFill>
            <a:srgbClr val="7A8A96"/>
          </a:solidFill>
          <a:ln w="12700">
            <a:solidFill>
              <a:srgbClr val="7A8A96"/>
            </a:solidFill>
            <a:prstDash val="solid"/>
          </a:ln>
        </p:spPr>
      </p:sp>
      <p:sp>
        <p:nvSpPr>
          <p:cNvPr id="6" name="cell-text"/>
          <p:cNvSpPr txBox="1"/>
          <p:nvPr/>
        </p:nvSpPr>
        <p:spPr>
          <a:xfrm>
            <a:off x="1737360" y="1280160"/>
            <a:ext cx="869873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system</a:t>
            </a:r>
            <a:endParaRPr lang="en-US" sz="1100" dirty="0"/>
          </a:p>
        </p:txBody>
      </p:sp>
      <p:sp>
        <p:nvSpPr>
          <p:cNvPr id="7" name="cell"/>
          <p:cNvSpPr/>
          <p:nvPr/>
        </p:nvSpPr>
        <p:spPr>
          <a:xfrm>
            <a:off x="2643809" y="1280160"/>
            <a:ext cx="1474172" cy="548640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8" name="cell-text"/>
          <p:cNvSpPr txBox="1"/>
          <p:nvPr/>
        </p:nvSpPr>
        <p:spPr>
          <a:xfrm>
            <a:off x="2643809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1: "no racist"</a:t>
            </a:r>
            <a:endParaRPr lang="en-US" sz="1100" dirty="0"/>
          </a:p>
        </p:txBody>
      </p:sp>
      <p:sp>
        <p:nvSpPr>
          <p:cNvPr id="9" name="cell"/>
          <p:cNvSpPr/>
          <p:nvPr/>
        </p:nvSpPr>
        <p:spPr>
          <a:xfrm>
            <a:off x="4154557" y="1280160"/>
            <a:ext cx="1474172" cy="54864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cell-text"/>
          <p:cNvSpPr txBox="1"/>
          <p:nvPr/>
        </p:nvSpPr>
        <p:spPr>
          <a:xfrm>
            <a:off x="4154557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2</a:t>
            </a:r>
            <a:endParaRPr lang="en-US" sz="1100" dirty="0"/>
          </a:p>
        </p:txBody>
      </p:sp>
      <p:sp>
        <p:nvSpPr>
          <p:cNvPr id="11" name="cell"/>
          <p:cNvSpPr/>
          <p:nvPr/>
        </p:nvSpPr>
        <p:spPr>
          <a:xfrm>
            <a:off x="5665304" y="1280160"/>
            <a:ext cx="1474172" cy="548640"/>
          </a:xfrm>
          <a:prstGeom prst="rect">
            <a:avLst/>
          </a:prstGeom>
          <a:solidFill>
            <a:srgbClr val="8A4FB0"/>
          </a:solidFill>
          <a:ln w="12700">
            <a:solidFill>
              <a:srgbClr val="8A4FB0"/>
            </a:solidFill>
            <a:prstDash val="solid"/>
          </a:ln>
        </p:spPr>
      </p:sp>
      <p:sp>
        <p:nvSpPr>
          <p:cNvPr id="12" name="cell-text"/>
          <p:cNvSpPr txBox="1"/>
          <p:nvPr/>
        </p:nvSpPr>
        <p:spPr>
          <a:xfrm>
            <a:off x="5665304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3</a:t>
            </a:r>
            <a:endParaRPr lang="en-US" sz="1100" dirty="0"/>
          </a:p>
        </p:txBody>
      </p:sp>
      <p:sp>
        <p:nvSpPr>
          <p:cNvPr id="13" name="cell"/>
          <p:cNvSpPr/>
          <p:nvPr/>
        </p:nvSpPr>
        <p:spPr>
          <a:xfrm>
            <a:off x="7176052" y="1280160"/>
            <a:ext cx="1474172" cy="548640"/>
          </a:xfrm>
          <a:prstGeom prst="rect">
            <a:avLst/>
          </a:prstGeom>
          <a:solidFill>
            <a:srgbClr val="B4561A"/>
          </a:solidFill>
          <a:ln w="12700">
            <a:solidFill>
              <a:srgbClr val="B4561A"/>
            </a:solidFill>
            <a:prstDash val="solid"/>
          </a:ln>
        </p:spPr>
      </p:sp>
      <p:sp>
        <p:nvSpPr>
          <p:cNvPr id="14" name="cell-text"/>
          <p:cNvSpPr txBox="1"/>
          <p:nvPr/>
        </p:nvSpPr>
        <p:spPr>
          <a:xfrm>
            <a:off x="7176052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4</a:t>
            </a:r>
            <a:endParaRPr lang="en-US" sz="1100" dirty="0"/>
          </a:p>
        </p:txBody>
      </p:sp>
      <p:sp>
        <p:nvSpPr>
          <p:cNvPr id="15" name="bar-label"/>
          <p:cNvSpPr txBox="1"/>
          <p:nvPr/>
        </p:nvSpPr>
        <p:spPr>
          <a:xfrm>
            <a:off x="45720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After trim</a:t>
            </a:r>
            <a:endParaRPr lang="en-US" sz="1400" dirty="0"/>
          </a:p>
        </p:txBody>
      </p:sp>
      <p:sp>
        <p:nvSpPr>
          <p:cNvPr id="16" name="cell"/>
          <p:cNvSpPr/>
          <p:nvPr/>
        </p:nvSpPr>
        <p:spPr>
          <a:xfrm>
            <a:off x="1737360" y="2011680"/>
            <a:ext cx="708007" cy="548640"/>
          </a:xfrm>
          <a:prstGeom prst="rect">
            <a:avLst/>
          </a:prstGeom>
          <a:solidFill>
            <a:srgbClr val="7A8A96"/>
          </a:solidFill>
          <a:ln w="12700">
            <a:solidFill>
              <a:srgbClr val="7A8A96"/>
            </a:solidFill>
            <a:prstDash val="solid"/>
          </a:ln>
        </p:spPr>
      </p:sp>
      <p:sp>
        <p:nvSpPr>
          <p:cNvPr id="17" name="cell-text"/>
          <p:cNvSpPr txBox="1"/>
          <p:nvPr/>
        </p:nvSpPr>
        <p:spPr>
          <a:xfrm>
            <a:off x="1737360" y="2011680"/>
            <a:ext cx="708007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system</a:t>
            </a:r>
            <a:endParaRPr lang="en-US" sz="1100" dirty="0"/>
          </a:p>
        </p:txBody>
      </p:sp>
      <p:sp>
        <p:nvSpPr>
          <p:cNvPr id="18" name="cell"/>
          <p:cNvSpPr/>
          <p:nvPr/>
        </p:nvSpPr>
        <p:spPr>
          <a:xfrm>
            <a:off x="2481943" y="2011680"/>
            <a:ext cx="1204395" cy="548640"/>
          </a:xfrm>
          <a:prstGeom prst="rect">
            <a:avLst/>
          </a:prstGeom>
          <a:solidFill>
            <a:srgbClr val="D8E0E5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9" name="cell-text"/>
          <p:cNvSpPr txBox="1"/>
          <p:nvPr/>
        </p:nvSpPr>
        <p:spPr>
          <a:xfrm>
            <a:off x="2481943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</a:rPr>
              <a:t>dropped</a:t>
            </a:r>
            <a:endParaRPr lang="en-US" sz="1100" dirty="0"/>
          </a:p>
        </p:txBody>
      </p:sp>
      <p:sp>
        <p:nvSpPr>
          <p:cNvPr id="20" name="cell"/>
          <p:cNvSpPr/>
          <p:nvPr/>
        </p:nvSpPr>
        <p:spPr>
          <a:xfrm>
            <a:off x="3722914" y="2011680"/>
            <a:ext cx="1204395" cy="54864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1" name="cell-text"/>
          <p:cNvSpPr txBox="1"/>
          <p:nvPr/>
        </p:nvSpPr>
        <p:spPr>
          <a:xfrm>
            <a:off x="3722914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2</a:t>
            </a:r>
            <a:endParaRPr lang="en-US" sz="1100" dirty="0"/>
          </a:p>
        </p:txBody>
      </p:sp>
      <p:sp>
        <p:nvSpPr>
          <p:cNvPr id="22" name="cell"/>
          <p:cNvSpPr/>
          <p:nvPr/>
        </p:nvSpPr>
        <p:spPr>
          <a:xfrm>
            <a:off x="4963886" y="2011680"/>
            <a:ext cx="1204395" cy="548640"/>
          </a:xfrm>
          <a:prstGeom prst="rect">
            <a:avLst/>
          </a:prstGeom>
          <a:solidFill>
            <a:srgbClr val="8A4FB0"/>
          </a:solidFill>
          <a:ln w="12700">
            <a:solidFill>
              <a:srgbClr val="8A4FB0"/>
            </a:solidFill>
            <a:prstDash val="solid"/>
          </a:ln>
        </p:spPr>
      </p:sp>
      <p:sp>
        <p:nvSpPr>
          <p:cNvPr id="23" name="cell-text"/>
          <p:cNvSpPr txBox="1"/>
          <p:nvPr/>
        </p:nvSpPr>
        <p:spPr>
          <a:xfrm>
            <a:off x="4963886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3</a:t>
            </a:r>
            <a:endParaRPr lang="en-US" sz="1100" dirty="0"/>
          </a:p>
        </p:txBody>
      </p:sp>
      <p:sp>
        <p:nvSpPr>
          <p:cNvPr id="24" name="cell"/>
          <p:cNvSpPr/>
          <p:nvPr/>
        </p:nvSpPr>
        <p:spPr>
          <a:xfrm>
            <a:off x="6204857" y="2011680"/>
            <a:ext cx="1204395" cy="548640"/>
          </a:xfrm>
          <a:prstGeom prst="rect">
            <a:avLst/>
          </a:prstGeom>
          <a:solidFill>
            <a:srgbClr val="B4561A"/>
          </a:solidFill>
          <a:ln w="12700">
            <a:solidFill>
              <a:srgbClr val="B4561A"/>
            </a:solidFill>
            <a:prstDash val="solid"/>
          </a:ln>
        </p:spPr>
      </p:sp>
      <p:sp>
        <p:nvSpPr>
          <p:cNvPr id="25" name="cell-text"/>
          <p:cNvSpPr txBox="1"/>
          <p:nvPr/>
        </p:nvSpPr>
        <p:spPr>
          <a:xfrm>
            <a:off x="6204857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4</a:t>
            </a:r>
            <a:endParaRPr lang="en-US" sz="1100" dirty="0"/>
          </a:p>
        </p:txBody>
      </p:sp>
      <p:sp>
        <p:nvSpPr>
          <p:cNvPr id="26" name="cell"/>
          <p:cNvSpPr/>
          <p:nvPr/>
        </p:nvSpPr>
        <p:spPr>
          <a:xfrm>
            <a:off x="7445829" y="2011680"/>
            <a:ext cx="1204395" cy="548640"/>
          </a:xfrm>
          <a:prstGeom prst="rect">
            <a:avLst/>
          </a:prstGeom>
          <a:solidFill>
            <a:srgbClr val="0B3B3C"/>
          </a:solidFill>
          <a:ln w="12700">
            <a:solidFill>
              <a:srgbClr val="0B3B3C"/>
            </a:solidFill>
            <a:prstDash val="solid"/>
          </a:ln>
        </p:spPr>
      </p:sp>
      <p:sp>
        <p:nvSpPr>
          <p:cNvPr id="27" name="cell-text"/>
          <p:cNvSpPr txBox="1"/>
          <p:nvPr/>
        </p:nvSpPr>
        <p:spPr>
          <a:xfrm>
            <a:off x="7445829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5</a:t>
            </a:r>
            <a:endParaRPr lang="en-US" sz="1100" dirty="0"/>
          </a:p>
        </p:txBody>
      </p:sp>
      <p:sp>
        <p:nvSpPr>
          <p:cNvPr id="28" name="bullets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Trim fires at 10 turns, or when the last prompt used over 3/4 of num_ctx (6144 tokens)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It drops whole turns only, so a tool result never loses its call</a:t>
            </a:r>
            <a:endParaRPr lang="en-US" sz="1500" dirty="0"/>
          </a:p>
        </p:txBody>
      </p:sp>
      <p:sp>
        <p:nvSpPr>
          <p:cNvPr id="29" name="callout-bg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30" name="callout"/>
          <p:cNvSpPr txBox="1"/>
          <p:nvPr/>
        </p:nvSpPr>
        <p:spPr>
          <a:xfrm>
            <a:off x="594360" y="3913632"/>
            <a:ext cx="79552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THE TRADE-OFF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Real systems summarize old turns or pin standing instructions in the system prompt.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One user message, end to end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457200" y="128016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trim() first, then add the user message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Send system prompt plus history with both tools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any tool calls; results go into history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Repeat up to 6 steps, then return the reply</a:t>
            </a:r>
            <a:endParaRPr lang="en-US" sz="1600" dirty="0"/>
          </a:p>
        </p:txBody>
      </p:sp>
      <p:sp>
        <p:nvSpPr>
          <p:cNvPr id="5" name="try"/>
          <p:cNvSpPr txBox="1"/>
          <p:nvPr/>
        </p:nvSpPr>
        <p:spPr>
          <a:xfrm>
            <a:off x="457200" y="3383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7A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joke about dogs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another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 that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now on nothing political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/reset</a:t>
            </a:r>
            <a:endParaRPr lang="en-US" sz="1300" dirty="0"/>
          </a:p>
        </p:txBody>
      </p:sp>
      <p:pic>
        <p:nvPicPr>
          <p:cNvPr id="6" name="Stage 3 flow" descr="Stage 3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7615" y="1005840"/>
            <a:ext cx="3066531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3b: the same agent in langchaingo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4480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Hand-written in stage 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 langchaingo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found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Ollama HTTP structs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openai client on /v1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Native client drops tools; /v1 has no num_ctx or keep_alive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Tool{Def, Run}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tools.Tool, one 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Typed schema becomes prose; model writes JSON in a 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for step loop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agents.Executor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A Go error from a tool aborts the run; ours return text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history + trim()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Window buffer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Text only, flattened into the system prompt, no token budget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-trace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Callbacks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Works; token counts hide in GenerationInfo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llout-bg"/>
          <p:cNvSpPr/>
          <p:nvPr/>
        </p:nvSpPr>
        <p:spPr>
          <a:xfrm>
            <a:off x="457200" y="4206240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6" name="callout"/>
          <p:cNvSpPr txBox="1"/>
          <p:nvPr/>
        </p:nvSpPr>
        <p:spPr>
          <a:xfrm>
            <a:off x="594360" y="427939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4FB0"/>
                </a:solidFill>
              </a:rPr>
              <a:t>LESSON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String-only tool input, flattened history and aborting on tool errors are decisions you inherit.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4: the tools leave the agent</a:t>
            </a:r>
            <a:endParaRPr lang="en-US" sz="3000" dirty="0"/>
          </a:p>
        </p:txBody>
      </p:sp>
      <p:pic>
        <p:nvPicPr>
          <p:cNvPr id="4" name="MCP sequence" descr="MCP sequ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17969"/>
            <a:ext cx="4937760" cy="2867581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5486400" y="118872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About 160 lines of hand-written JSON-RPC over stdio, no SDK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client owns the model and the loop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stdout is the protocol, so -trace logs to stderr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Tool failures return isError: true so the model can retry</a:t>
            </a:r>
            <a:endParaRPr lang="en-US" sz="1400" dirty="0"/>
          </a:p>
        </p:txBody>
      </p:sp>
      <p:sp>
        <p:nvSpPr>
          <p:cNvPr id="6" name="cmd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7A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jokes -- go run ./cmd/jokes-mcp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5: evals, a number not a hunch</a:t>
            </a:r>
            <a:endParaRPr lang="en-US" sz="3000" dirty="0"/>
          </a:p>
        </p:txBody>
      </p:sp>
      <p:pic>
        <p:nvPicPr>
          <p:cNvPr id="4" name="Eval flow" descr="Eval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9694" y="1051560"/>
            <a:ext cx="6264613" cy="9144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5760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Passed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failed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0 Keywords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7 of 13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"clean" and "family friendly" do not expand; politics or religion missed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1 Structured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8 of 13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Same "clean" weakness; lost Pun, Misc for spooky, lost Christmas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6 Agent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5 of 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Explained the joke unasked after an "explain it" turn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-bg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7" name="callout"/>
          <p:cNvSpPr txBox="1"/>
          <p:nvPr/>
        </p:nvSpPr>
        <p:spPr>
          <a:xfrm>
            <a:off x="594360" y="4050792"/>
            <a:ext cx="7955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7D2A"/>
                </a:solidFill>
              </a:rPr>
              <a:t>LESSON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A 9B model beat strings.Contains by one case. That is the argument for measuring before and after every prompt change.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6: one loop, any provider</a:t>
            </a:r>
            <a:endParaRPr lang="en-US" sz="3000" dirty="0"/>
          </a:p>
        </p:txBody>
      </p:sp>
      <p:pic>
        <p:nvPicPr>
          <p:cNvPr id="4" name="Provider diagram" descr="Provider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95" y="1051560"/>
            <a:ext cx="7408410" cy="237744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457200" y="35661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Stage 3 agent over one provider.Provider interface; switching is a flag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adapter is plain net/http with its own wire-format structs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same eval can score all three models</a:t>
            </a:r>
            <a:endParaRPr lang="en-US" sz="1400" dirty="0"/>
          </a:p>
        </p:txBody>
      </p:sp>
      <p:sp>
        <p:nvSpPr>
          <p:cNvPr id="6" name="callout-bg"/>
          <p:cNvSpPr/>
          <p:nvPr/>
        </p:nvSpPr>
        <p:spPr>
          <a:xfrm>
            <a:off x="6126480" y="3566160"/>
            <a:ext cx="2560320" cy="109728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7" name="callout"/>
          <p:cNvSpPr txBox="1"/>
          <p:nvPr/>
        </p:nvSpPr>
        <p:spPr>
          <a:xfrm>
            <a:off x="6263640" y="3639312"/>
            <a:ext cx="22860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NOT YET RUN LIVE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No API keys on the dev machine.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What the provider adapters hide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Ollama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OpenAI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Claude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System prompt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a system message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a system message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top-level system field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Tool arguments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JSON object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JSON string inside JSON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JSON object (input)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Tool result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tool message, tool_name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tool message, tool_call_id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tool_result in a user message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Call IDs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none; agent invents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required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required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Output cap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num_predict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max_tokens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2B"/>
                          </a:solidFill>
                        </a:rPr>
                        <a:t>max_tokens, required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llout-bg"/>
          <p:cNvSpPr/>
          <p:nvPr/>
        </p:nvSpPr>
        <p:spPr>
          <a:xfrm>
            <a:off x="457200" y="4206240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5" name="callout"/>
          <p:cNvSpPr txBox="1"/>
          <p:nvPr/>
        </p:nvSpPr>
        <p:spPr>
          <a:xfrm>
            <a:off x="594360" y="4279392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02F6B"/>
                </a:solidFill>
              </a:rPr>
              <a:t>LESSON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Same loop everywhere. Providers differ in plumbing, then behaviour: run one eval on each.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Reuse it: swap the domain, keep the skeleton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 agent-lab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 your project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Support-ticket bot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jokeapi.Request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Typed request struct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TicketQuery{Status, Priority}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Normalize()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Validate model output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Reject unknown assignees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get_joke tool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One tool per API capability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search_tickets, add_comment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"No matching joke"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Errors the model can act 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"0 tickets. Widen the dates."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Blacklist never loosened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Hard constraints in code too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Read-only, one project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seenJokes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Exact state in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Tickets already shown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trim()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Context policy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Pin the user's project and role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Habits to take with you</a:t>
            </a:r>
            <a:endParaRPr lang="en-US" sz="3400" dirty="0"/>
          </a:p>
        </p:txBody>
      </p:sp>
      <p:sp>
        <p:nvSpPr>
          <p:cNvPr id="3" name="habit-bg"/>
          <p:cNvSpPr/>
          <p:nvPr/>
        </p:nvSpPr>
        <p:spPr>
          <a:xfrm>
            <a:off x="548640" y="13716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4" name="habit"/>
          <p:cNvSpPr txBox="1"/>
          <p:nvPr/>
        </p:nvSpPr>
        <p:spPr>
          <a:xfrm>
            <a:off x="6858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Typed boundaries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Models write structs, not strings.</a:t>
            </a:r>
            <a:endParaRPr lang="en-US" sz="1600" dirty="0"/>
          </a:p>
        </p:txBody>
      </p:sp>
      <p:sp>
        <p:nvSpPr>
          <p:cNvPr id="5" name="habit-bg"/>
          <p:cNvSpPr/>
          <p:nvPr/>
        </p:nvSpPr>
        <p:spPr>
          <a:xfrm>
            <a:off x="3291840" y="13716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6" name="habit"/>
          <p:cNvSpPr txBox="1"/>
          <p:nvPr/>
        </p:nvSpPr>
        <p:spPr>
          <a:xfrm>
            <a:off x="34290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Errors go to the model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Return failures as results.</a:t>
            </a:r>
            <a:endParaRPr lang="en-US" sz="1600" dirty="0"/>
          </a:p>
        </p:txBody>
      </p:sp>
      <p:sp>
        <p:nvSpPr>
          <p:cNvPr id="7" name="habit-bg"/>
          <p:cNvSpPr/>
          <p:nvPr/>
        </p:nvSpPr>
        <p:spPr>
          <a:xfrm>
            <a:off x="6035040" y="13716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8" name="habit"/>
          <p:cNvSpPr txBox="1"/>
          <p:nvPr/>
        </p:nvSpPr>
        <p:spPr>
          <a:xfrm>
            <a:off x="61722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Cap every loop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Steps, retries and output.</a:t>
            </a:r>
            <a:endParaRPr lang="en-US" sz="1600" dirty="0"/>
          </a:p>
        </p:txBody>
      </p:sp>
      <p:sp>
        <p:nvSpPr>
          <p:cNvPr id="9" name="habit-bg"/>
          <p:cNvSpPr/>
          <p:nvPr/>
        </p:nvSpPr>
        <p:spPr>
          <a:xfrm>
            <a:off x="548640" y="27432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10" name="habit"/>
          <p:cNvSpPr txBox="1"/>
          <p:nvPr/>
        </p:nvSpPr>
        <p:spPr>
          <a:xfrm>
            <a:off x="68580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Trace everything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Read the prompts and results.</a:t>
            </a:r>
            <a:endParaRPr lang="en-US" sz="1600" dirty="0"/>
          </a:p>
        </p:txBody>
      </p:sp>
      <p:sp>
        <p:nvSpPr>
          <p:cNvPr id="11" name="habit-bg"/>
          <p:cNvSpPr/>
          <p:nvPr/>
        </p:nvSpPr>
        <p:spPr>
          <a:xfrm>
            <a:off x="3291840" y="27432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12" name="habit"/>
          <p:cNvSpPr txBox="1"/>
          <p:nvPr/>
        </p:nvSpPr>
        <p:spPr>
          <a:xfrm>
            <a:off x="342900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Fake the model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Script a conversation.</a:t>
            </a:r>
            <a:endParaRPr lang="en-US" sz="1600" dirty="0"/>
          </a:p>
        </p:txBody>
      </p:sp>
      <p:sp>
        <p:nvSpPr>
          <p:cNvPr id="13" name="habit-bg"/>
          <p:cNvSpPr/>
          <p:nvPr/>
        </p:nvSpPr>
        <p:spPr>
          <a:xfrm>
            <a:off x="6035040" y="27432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14" name="habit"/>
          <p:cNvSpPr txBox="1"/>
          <p:nvPr/>
        </p:nvSpPr>
        <p:spPr>
          <a:xfrm>
            <a:off x="617220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Measure with evals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Turn failures into cases.</a:t>
            </a:r>
            <a:endParaRPr lang="en-US" sz="1600" dirty="0"/>
          </a:p>
        </p:txBody>
      </p:sp>
      <p:sp>
        <p:nvSpPr>
          <p:cNvPr id="15" name="cmd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·   make eval   ·   go run ./cmd/jokes -stage 3 -trace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entLab">
  <a:themeElements>
    <a:clrScheme name="AgentLab">
      <a:dk1>
        <a:srgbClr val="14212B"/>
      </a:dk1>
      <a:lt1>
        <a:srgbClr val="FFFFFF"/>
      </a:lt1>
      <a:dk2>
        <a:srgbClr val="0B3B3C"/>
      </a:dk2>
      <a:lt2>
        <a:srgbClr val="EEF3F4"/>
      </a:lt2>
      <a:accent1>
        <a:srgbClr val="0B7A75"/>
      </a:accent1>
      <a:accent2>
        <a:srgbClr val="2F6FB5"/>
      </a:accent2>
      <a:accent3>
        <a:srgbClr val="8A4FB0"/>
      </a:accent3>
      <a:accent4>
        <a:srgbClr val="B4561A"/>
      </a:accent4>
      <a:accent5>
        <a:srgbClr val="3F7D2A"/>
      </a:accent5>
      <a:accent6>
        <a:srgbClr val="B02F6B"/>
      </a:accent6>
      <a:hlink>
        <a:srgbClr val="0B7A75"/>
      </a:hlink>
      <a:folHlink>
        <a:srgbClr val="8A4FB0"/>
      </a:folHlink>
    </a:clrScheme>
    <a:fontScheme name="Agent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Lab: build an agent from scratch</dc:title>
  <dc:subject>PptxGenJS Presentation</dc:subject>
  <dc:creator>PptxGenJS</dc:creator>
  <cp:lastModifiedBy>PptxGenJS</cp:lastModifiedBy>
  <cp:revision>1</cp:revision>
  <dcterms:created xsi:type="dcterms:W3CDTF">2026-10-06T16:11:01Z</dcterms:created>
  <dcterms:modified xsi:type="dcterms:W3CDTF">2026-10-06T16:11:01Z</dcterms:modified>
</cp:coreProperties>
</file>